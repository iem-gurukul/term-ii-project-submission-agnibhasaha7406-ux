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4B8A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4B8A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19150"/>
          </a:xfrm>
          <a:custGeom>
            <a:avLst/>
            <a:gdLst/>
            <a:ahLst/>
            <a:cxnLst/>
            <a:rect l="l" t="t" r="r" b="b"/>
            <a:pathLst>
              <a:path w="9144000" h="819150">
                <a:moveTo>
                  <a:pt x="9144000" y="819150"/>
                </a:moveTo>
                <a:lnTo>
                  <a:pt x="0" y="819150"/>
                </a:lnTo>
                <a:lnTo>
                  <a:pt x="0" y="0"/>
                </a:lnTo>
                <a:lnTo>
                  <a:pt x="9144000" y="0"/>
                </a:lnTo>
                <a:lnTo>
                  <a:pt x="9144000" y="819150"/>
                </a:lnTo>
                <a:close/>
              </a:path>
            </a:pathLst>
          </a:custGeom>
          <a:solidFill>
            <a:srgbClr val="1B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819150"/>
          </a:xfrm>
          <a:custGeom>
            <a:avLst/>
            <a:gdLst/>
            <a:ahLst/>
            <a:cxnLst/>
            <a:rect l="l" t="t" r="r" b="b"/>
            <a:pathLst>
              <a:path w="9144000" h="819150">
                <a:moveTo>
                  <a:pt x="0" y="0"/>
                </a:moveTo>
                <a:lnTo>
                  <a:pt x="9144000" y="0"/>
                </a:lnTo>
                <a:lnTo>
                  <a:pt x="914400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1B1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180975"/>
            <a:ext cx="457200" cy="457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19150"/>
          </a:xfrm>
          <a:custGeom>
            <a:avLst/>
            <a:gdLst/>
            <a:ahLst/>
            <a:cxnLst/>
            <a:rect l="l" t="t" r="r" b="b"/>
            <a:pathLst>
              <a:path w="9144000" h="819150">
                <a:moveTo>
                  <a:pt x="9144000" y="819150"/>
                </a:moveTo>
                <a:lnTo>
                  <a:pt x="0" y="819150"/>
                </a:lnTo>
                <a:lnTo>
                  <a:pt x="0" y="0"/>
                </a:lnTo>
                <a:lnTo>
                  <a:pt x="9144000" y="0"/>
                </a:lnTo>
                <a:lnTo>
                  <a:pt x="9144000" y="819150"/>
                </a:lnTo>
                <a:close/>
              </a:path>
            </a:pathLst>
          </a:custGeom>
          <a:solidFill>
            <a:srgbClr val="2D2D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819150"/>
          </a:xfrm>
          <a:custGeom>
            <a:avLst/>
            <a:gdLst/>
            <a:ahLst/>
            <a:cxnLst/>
            <a:rect l="l" t="t" r="r" b="b"/>
            <a:pathLst>
              <a:path w="9144000" h="819150">
                <a:moveTo>
                  <a:pt x="0" y="0"/>
                </a:moveTo>
                <a:lnTo>
                  <a:pt x="9144000" y="0"/>
                </a:lnTo>
                <a:lnTo>
                  <a:pt x="914400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2D2D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157708"/>
            <a:ext cx="302641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2600" y="2487498"/>
            <a:ext cx="5883910" cy="1531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4B8A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238125" cy="5153025"/>
            <a:chOff x="-4762" y="-4762"/>
            <a:chExt cx="238125" cy="515302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28600" cy="5143500"/>
            </a:xfrm>
            <a:custGeom>
              <a:avLst/>
              <a:gdLst/>
              <a:ahLst/>
              <a:cxnLst/>
              <a:rect l="l" t="t" r="r" b="b"/>
              <a:pathLst>
                <a:path w="228600" h="5143500">
                  <a:moveTo>
                    <a:pt x="228600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228600" y="0"/>
                  </a:lnTo>
                  <a:lnTo>
                    <a:pt x="228600" y="514350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8600" cy="5143500"/>
            </a:xfrm>
            <a:custGeom>
              <a:avLst/>
              <a:gdLst/>
              <a:ahLst/>
              <a:cxnLst/>
              <a:rect l="l" t="t" r="r" b="b"/>
              <a:pathLst>
                <a:path w="228600" h="5143500">
                  <a:moveTo>
                    <a:pt x="0" y="0"/>
                  </a:moveTo>
                  <a:lnTo>
                    <a:pt x="228600" y="0"/>
                  </a:lnTo>
                  <a:lnTo>
                    <a:pt x="228600" y="5143500"/>
                  </a:lnTo>
                  <a:lnTo>
                    <a:pt x="0" y="51435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853237" y="-4762"/>
            <a:ext cx="2295525" cy="2571750"/>
            <a:chOff x="6853237" y="-4762"/>
            <a:chExt cx="2295525" cy="2571750"/>
          </a:xfrm>
        </p:grpSpPr>
        <p:sp>
          <p:nvSpPr>
            <p:cNvPr id="6" name="object 6"/>
            <p:cNvSpPr/>
            <p:nvPr/>
          </p:nvSpPr>
          <p:spPr>
            <a:xfrm>
              <a:off x="6858000" y="0"/>
              <a:ext cx="2286000" cy="2562225"/>
            </a:xfrm>
            <a:custGeom>
              <a:avLst/>
              <a:gdLst/>
              <a:ahLst/>
              <a:cxnLst/>
              <a:rect l="l" t="t" r="r" b="b"/>
              <a:pathLst>
                <a:path w="2286000" h="2562225">
                  <a:moveTo>
                    <a:pt x="1828800" y="2562225"/>
                  </a:moveTo>
                  <a:lnTo>
                    <a:pt x="1777407" y="2561507"/>
                  </a:lnTo>
                  <a:lnTo>
                    <a:pt x="1726156" y="2559356"/>
                  </a:lnTo>
                  <a:lnTo>
                    <a:pt x="1675046" y="2555770"/>
                  </a:lnTo>
                  <a:lnTo>
                    <a:pt x="1624077" y="2550750"/>
                  </a:lnTo>
                  <a:lnTo>
                    <a:pt x="1573250" y="2544296"/>
                  </a:lnTo>
                  <a:lnTo>
                    <a:pt x="1522563" y="2536407"/>
                  </a:lnTo>
                  <a:lnTo>
                    <a:pt x="1472018" y="2527084"/>
                  </a:lnTo>
                  <a:lnTo>
                    <a:pt x="1421753" y="2516355"/>
                  </a:lnTo>
                  <a:lnTo>
                    <a:pt x="1371598" y="2504162"/>
                  </a:lnTo>
                  <a:lnTo>
                    <a:pt x="1322478" y="2490759"/>
                  </a:lnTo>
                  <a:lnTo>
                    <a:pt x="1273468" y="2475891"/>
                  </a:lnTo>
                  <a:lnTo>
                    <a:pt x="1224876" y="2459645"/>
                  </a:lnTo>
                  <a:lnTo>
                    <a:pt x="1176703" y="2442020"/>
                  </a:lnTo>
                  <a:lnTo>
                    <a:pt x="1128948" y="2423015"/>
                  </a:lnTo>
                  <a:lnTo>
                    <a:pt x="1081742" y="2402686"/>
                  </a:lnTo>
                  <a:lnTo>
                    <a:pt x="1035215" y="2381085"/>
                  </a:lnTo>
                  <a:lnTo>
                    <a:pt x="989367" y="2358213"/>
                  </a:lnTo>
                  <a:lnTo>
                    <a:pt x="944199" y="2334070"/>
                  </a:lnTo>
                  <a:lnTo>
                    <a:pt x="899711" y="2308657"/>
                  </a:lnTo>
                  <a:lnTo>
                    <a:pt x="855901" y="2281972"/>
                  </a:lnTo>
                  <a:lnTo>
                    <a:pt x="812772" y="2254016"/>
                  </a:lnTo>
                  <a:lnTo>
                    <a:pt x="770439" y="2224868"/>
                  </a:lnTo>
                  <a:lnTo>
                    <a:pt x="729021" y="2194605"/>
                  </a:lnTo>
                  <a:lnTo>
                    <a:pt x="688516" y="2163228"/>
                  </a:lnTo>
                  <a:lnTo>
                    <a:pt x="648927" y="2130738"/>
                  </a:lnTo>
                  <a:lnTo>
                    <a:pt x="610251" y="2097133"/>
                  </a:lnTo>
                  <a:lnTo>
                    <a:pt x="572490" y="2062414"/>
                  </a:lnTo>
                  <a:lnTo>
                    <a:pt x="535643" y="2026581"/>
                  </a:lnTo>
                  <a:lnTo>
                    <a:pt x="499810" y="1989734"/>
                  </a:lnTo>
                  <a:lnTo>
                    <a:pt x="465091" y="1951973"/>
                  </a:lnTo>
                  <a:lnTo>
                    <a:pt x="431486" y="1913297"/>
                  </a:lnTo>
                  <a:lnTo>
                    <a:pt x="398995" y="1873707"/>
                  </a:lnTo>
                  <a:lnTo>
                    <a:pt x="367618" y="1833203"/>
                  </a:lnTo>
                  <a:lnTo>
                    <a:pt x="337355" y="1791784"/>
                  </a:lnTo>
                  <a:lnTo>
                    <a:pt x="308207" y="1749451"/>
                  </a:lnTo>
                  <a:lnTo>
                    <a:pt x="280251" y="1706321"/>
                  </a:lnTo>
                  <a:lnTo>
                    <a:pt x="253566" y="1662512"/>
                  </a:lnTo>
                  <a:lnTo>
                    <a:pt x="228153" y="1618024"/>
                  </a:lnTo>
                  <a:lnTo>
                    <a:pt x="204010" y="1572856"/>
                  </a:lnTo>
                  <a:lnTo>
                    <a:pt x="181138" y="1527008"/>
                  </a:lnTo>
                  <a:lnTo>
                    <a:pt x="159538" y="1480482"/>
                  </a:lnTo>
                  <a:lnTo>
                    <a:pt x="139208" y="1433276"/>
                  </a:lnTo>
                  <a:lnTo>
                    <a:pt x="120204" y="1385521"/>
                  </a:lnTo>
                  <a:lnTo>
                    <a:pt x="102578" y="1337347"/>
                  </a:lnTo>
                  <a:lnTo>
                    <a:pt x="86332" y="1288756"/>
                  </a:lnTo>
                  <a:lnTo>
                    <a:pt x="71465" y="1239746"/>
                  </a:lnTo>
                  <a:lnTo>
                    <a:pt x="57977" y="1190317"/>
                  </a:lnTo>
                  <a:lnTo>
                    <a:pt x="45868" y="1140471"/>
                  </a:lnTo>
                  <a:lnTo>
                    <a:pt x="35139" y="1090206"/>
                  </a:lnTo>
                  <a:lnTo>
                    <a:pt x="25816" y="1039661"/>
                  </a:lnTo>
                  <a:lnTo>
                    <a:pt x="17928" y="988974"/>
                  </a:lnTo>
                  <a:lnTo>
                    <a:pt x="11474" y="938147"/>
                  </a:lnTo>
                  <a:lnTo>
                    <a:pt x="6454" y="887178"/>
                  </a:lnTo>
                  <a:lnTo>
                    <a:pt x="2868" y="836068"/>
                  </a:lnTo>
                  <a:lnTo>
                    <a:pt x="717" y="784817"/>
                  </a:lnTo>
                  <a:lnTo>
                    <a:pt x="0" y="733425"/>
                  </a:lnTo>
                  <a:lnTo>
                    <a:pt x="717" y="682032"/>
                  </a:lnTo>
                  <a:lnTo>
                    <a:pt x="2868" y="630781"/>
                  </a:lnTo>
                  <a:lnTo>
                    <a:pt x="6454" y="579671"/>
                  </a:lnTo>
                  <a:lnTo>
                    <a:pt x="11474" y="528702"/>
                  </a:lnTo>
                  <a:lnTo>
                    <a:pt x="17928" y="477874"/>
                  </a:lnTo>
                  <a:lnTo>
                    <a:pt x="25816" y="427188"/>
                  </a:lnTo>
                  <a:lnTo>
                    <a:pt x="35139" y="376643"/>
                  </a:lnTo>
                  <a:lnTo>
                    <a:pt x="45868" y="326378"/>
                  </a:lnTo>
                  <a:lnTo>
                    <a:pt x="57977" y="276531"/>
                  </a:lnTo>
                  <a:lnTo>
                    <a:pt x="71465" y="227103"/>
                  </a:lnTo>
                  <a:lnTo>
                    <a:pt x="86332" y="178093"/>
                  </a:lnTo>
                  <a:lnTo>
                    <a:pt x="102578" y="129501"/>
                  </a:lnTo>
                  <a:lnTo>
                    <a:pt x="120204" y="81328"/>
                  </a:lnTo>
                  <a:lnTo>
                    <a:pt x="139208" y="33573"/>
                  </a:lnTo>
                  <a:lnTo>
                    <a:pt x="153667" y="0"/>
                  </a:lnTo>
                  <a:lnTo>
                    <a:pt x="2286000" y="0"/>
                  </a:lnTo>
                  <a:lnTo>
                    <a:pt x="2286000" y="2504162"/>
                  </a:lnTo>
                  <a:lnTo>
                    <a:pt x="2235845" y="2516355"/>
                  </a:lnTo>
                  <a:lnTo>
                    <a:pt x="2185580" y="2527084"/>
                  </a:lnTo>
                  <a:lnTo>
                    <a:pt x="2135035" y="2536407"/>
                  </a:lnTo>
                  <a:lnTo>
                    <a:pt x="2084349" y="2544296"/>
                  </a:lnTo>
                  <a:lnTo>
                    <a:pt x="2033522" y="2550750"/>
                  </a:lnTo>
                  <a:lnTo>
                    <a:pt x="1982553" y="2555770"/>
                  </a:lnTo>
                  <a:lnTo>
                    <a:pt x="1931443" y="2559356"/>
                  </a:lnTo>
                  <a:lnTo>
                    <a:pt x="1880192" y="2561507"/>
                  </a:lnTo>
                  <a:lnTo>
                    <a:pt x="1828800" y="2562225"/>
                  </a:lnTo>
                  <a:close/>
                </a:path>
              </a:pathLst>
            </a:custGeom>
            <a:solidFill>
              <a:srgbClr val="0D9488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0" y="0"/>
              <a:ext cx="2286000" cy="2562225"/>
            </a:xfrm>
            <a:custGeom>
              <a:avLst/>
              <a:gdLst/>
              <a:ahLst/>
              <a:cxnLst/>
              <a:rect l="l" t="t" r="r" b="b"/>
              <a:pathLst>
                <a:path w="2286000" h="2562225">
                  <a:moveTo>
                    <a:pt x="2286000" y="2504162"/>
                  </a:moveTo>
                  <a:lnTo>
                    <a:pt x="2235845" y="2516355"/>
                  </a:lnTo>
                  <a:lnTo>
                    <a:pt x="2185580" y="2527084"/>
                  </a:lnTo>
                  <a:lnTo>
                    <a:pt x="2135035" y="2536407"/>
                  </a:lnTo>
                  <a:lnTo>
                    <a:pt x="2084349" y="2544296"/>
                  </a:lnTo>
                  <a:lnTo>
                    <a:pt x="2033522" y="2550750"/>
                  </a:lnTo>
                  <a:lnTo>
                    <a:pt x="1982553" y="2555770"/>
                  </a:lnTo>
                  <a:lnTo>
                    <a:pt x="1931443" y="2559356"/>
                  </a:lnTo>
                  <a:lnTo>
                    <a:pt x="1880192" y="2561507"/>
                  </a:lnTo>
                  <a:lnTo>
                    <a:pt x="1828800" y="2562225"/>
                  </a:lnTo>
                  <a:lnTo>
                    <a:pt x="1777407" y="2561507"/>
                  </a:lnTo>
                  <a:lnTo>
                    <a:pt x="1726156" y="2559356"/>
                  </a:lnTo>
                  <a:lnTo>
                    <a:pt x="1675046" y="2555770"/>
                  </a:lnTo>
                  <a:lnTo>
                    <a:pt x="1624077" y="2550750"/>
                  </a:lnTo>
                  <a:lnTo>
                    <a:pt x="1573250" y="2544296"/>
                  </a:lnTo>
                  <a:lnTo>
                    <a:pt x="1522563" y="2536407"/>
                  </a:lnTo>
                  <a:lnTo>
                    <a:pt x="1472018" y="2527084"/>
                  </a:lnTo>
                  <a:lnTo>
                    <a:pt x="1421753" y="2516355"/>
                  </a:lnTo>
                  <a:lnTo>
                    <a:pt x="1371906" y="2504246"/>
                  </a:lnTo>
                  <a:lnTo>
                    <a:pt x="1322478" y="2490759"/>
                  </a:lnTo>
                  <a:lnTo>
                    <a:pt x="1273468" y="2475891"/>
                  </a:lnTo>
                  <a:lnTo>
                    <a:pt x="1224876" y="2459645"/>
                  </a:lnTo>
                  <a:lnTo>
                    <a:pt x="1176703" y="2442020"/>
                  </a:lnTo>
                  <a:lnTo>
                    <a:pt x="1128948" y="2423015"/>
                  </a:lnTo>
                  <a:lnTo>
                    <a:pt x="1081742" y="2402686"/>
                  </a:lnTo>
                  <a:lnTo>
                    <a:pt x="1035215" y="2381085"/>
                  </a:lnTo>
                  <a:lnTo>
                    <a:pt x="989367" y="2358213"/>
                  </a:lnTo>
                  <a:lnTo>
                    <a:pt x="944199" y="2334070"/>
                  </a:lnTo>
                  <a:lnTo>
                    <a:pt x="899711" y="2308657"/>
                  </a:lnTo>
                  <a:lnTo>
                    <a:pt x="855901" y="2281972"/>
                  </a:lnTo>
                  <a:lnTo>
                    <a:pt x="812772" y="2254016"/>
                  </a:lnTo>
                  <a:lnTo>
                    <a:pt x="770439" y="2224868"/>
                  </a:lnTo>
                  <a:lnTo>
                    <a:pt x="729021" y="2194605"/>
                  </a:lnTo>
                  <a:lnTo>
                    <a:pt x="688516" y="2163228"/>
                  </a:lnTo>
                  <a:lnTo>
                    <a:pt x="648927" y="2130738"/>
                  </a:lnTo>
                  <a:lnTo>
                    <a:pt x="610251" y="2097133"/>
                  </a:lnTo>
                  <a:lnTo>
                    <a:pt x="572490" y="2062414"/>
                  </a:lnTo>
                  <a:lnTo>
                    <a:pt x="535643" y="2026581"/>
                  </a:lnTo>
                  <a:lnTo>
                    <a:pt x="499810" y="1989734"/>
                  </a:lnTo>
                  <a:lnTo>
                    <a:pt x="465091" y="1951973"/>
                  </a:lnTo>
                  <a:lnTo>
                    <a:pt x="431486" y="1913297"/>
                  </a:lnTo>
                  <a:lnTo>
                    <a:pt x="398995" y="1873707"/>
                  </a:lnTo>
                  <a:lnTo>
                    <a:pt x="367618" y="1833203"/>
                  </a:lnTo>
                  <a:lnTo>
                    <a:pt x="337355" y="1791784"/>
                  </a:lnTo>
                  <a:lnTo>
                    <a:pt x="308207" y="1749451"/>
                  </a:lnTo>
                  <a:lnTo>
                    <a:pt x="280251" y="1706321"/>
                  </a:lnTo>
                  <a:lnTo>
                    <a:pt x="253566" y="1662512"/>
                  </a:lnTo>
                  <a:lnTo>
                    <a:pt x="228153" y="1618024"/>
                  </a:lnTo>
                  <a:lnTo>
                    <a:pt x="204010" y="1572856"/>
                  </a:lnTo>
                  <a:lnTo>
                    <a:pt x="181138" y="1527008"/>
                  </a:lnTo>
                  <a:lnTo>
                    <a:pt x="159538" y="1480482"/>
                  </a:lnTo>
                  <a:lnTo>
                    <a:pt x="139208" y="1433276"/>
                  </a:lnTo>
                  <a:lnTo>
                    <a:pt x="120204" y="1385521"/>
                  </a:lnTo>
                  <a:lnTo>
                    <a:pt x="102578" y="1337347"/>
                  </a:lnTo>
                  <a:lnTo>
                    <a:pt x="86332" y="1288756"/>
                  </a:lnTo>
                  <a:lnTo>
                    <a:pt x="71465" y="1239746"/>
                  </a:lnTo>
                  <a:lnTo>
                    <a:pt x="57977" y="1190317"/>
                  </a:lnTo>
                  <a:lnTo>
                    <a:pt x="45868" y="1140471"/>
                  </a:lnTo>
                  <a:lnTo>
                    <a:pt x="35139" y="1090206"/>
                  </a:lnTo>
                  <a:lnTo>
                    <a:pt x="25816" y="1039661"/>
                  </a:lnTo>
                  <a:lnTo>
                    <a:pt x="17928" y="988974"/>
                  </a:lnTo>
                  <a:lnTo>
                    <a:pt x="11474" y="938147"/>
                  </a:lnTo>
                  <a:lnTo>
                    <a:pt x="6454" y="887178"/>
                  </a:lnTo>
                  <a:lnTo>
                    <a:pt x="2868" y="836068"/>
                  </a:lnTo>
                  <a:lnTo>
                    <a:pt x="717" y="784817"/>
                  </a:lnTo>
                  <a:lnTo>
                    <a:pt x="0" y="733425"/>
                  </a:lnTo>
                  <a:lnTo>
                    <a:pt x="717" y="682032"/>
                  </a:lnTo>
                  <a:lnTo>
                    <a:pt x="2868" y="630781"/>
                  </a:lnTo>
                  <a:lnTo>
                    <a:pt x="6454" y="579671"/>
                  </a:lnTo>
                  <a:lnTo>
                    <a:pt x="11474" y="528702"/>
                  </a:lnTo>
                  <a:lnTo>
                    <a:pt x="17928" y="477874"/>
                  </a:lnTo>
                  <a:lnTo>
                    <a:pt x="25816" y="427188"/>
                  </a:lnTo>
                  <a:lnTo>
                    <a:pt x="35139" y="376643"/>
                  </a:lnTo>
                  <a:lnTo>
                    <a:pt x="45868" y="326378"/>
                  </a:lnTo>
                  <a:lnTo>
                    <a:pt x="57977" y="276531"/>
                  </a:lnTo>
                  <a:lnTo>
                    <a:pt x="71465" y="227103"/>
                  </a:lnTo>
                  <a:lnTo>
                    <a:pt x="86332" y="178093"/>
                  </a:lnTo>
                  <a:lnTo>
                    <a:pt x="102578" y="129501"/>
                  </a:lnTo>
                  <a:lnTo>
                    <a:pt x="120204" y="81328"/>
                  </a:lnTo>
                  <a:lnTo>
                    <a:pt x="139208" y="33573"/>
                  </a:lnTo>
                  <a:lnTo>
                    <a:pt x="153667" y="0"/>
                  </a:lnTo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6175" y="0"/>
              <a:ext cx="1647825" cy="1743075"/>
            </a:xfrm>
            <a:custGeom>
              <a:avLst/>
              <a:gdLst/>
              <a:ahLst/>
              <a:cxnLst/>
              <a:rect l="l" t="t" r="r" b="b"/>
              <a:pathLst>
                <a:path w="1647825" h="1743075">
                  <a:moveTo>
                    <a:pt x="1143000" y="1743075"/>
                  </a:moveTo>
                  <a:lnTo>
                    <a:pt x="1086847" y="1741702"/>
                  </a:lnTo>
                  <a:lnTo>
                    <a:pt x="1030964" y="1737584"/>
                  </a:lnTo>
                  <a:lnTo>
                    <a:pt x="975353" y="1730721"/>
                  </a:lnTo>
                  <a:lnTo>
                    <a:pt x="920011" y="1721112"/>
                  </a:lnTo>
                  <a:lnTo>
                    <a:pt x="865205" y="1708811"/>
                  </a:lnTo>
                  <a:lnTo>
                    <a:pt x="811200" y="1693870"/>
                  </a:lnTo>
                  <a:lnTo>
                    <a:pt x="757995" y="1676289"/>
                  </a:lnTo>
                  <a:lnTo>
                    <a:pt x="705591" y="1656069"/>
                  </a:lnTo>
                  <a:lnTo>
                    <a:pt x="654239" y="1633312"/>
                  </a:lnTo>
                  <a:lnTo>
                    <a:pt x="604186" y="1608122"/>
                  </a:lnTo>
                  <a:lnTo>
                    <a:pt x="555434" y="1580500"/>
                  </a:lnTo>
                  <a:lnTo>
                    <a:pt x="507982" y="1550444"/>
                  </a:lnTo>
                  <a:lnTo>
                    <a:pt x="462055" y="1518106"/>
                  </a:lnTo>
                  <a:lnTo>
                    <a:pt x="417879" y="1483636"/>
                  </a:lnTo>
                  <a:lnTo>
                    <a:pt x="375453" y="1447033"/>
                  </a:lnTo>
                  <a:lnTo>
                    <a:pt x="334776" y="1408298"/>
                  </a:lnTo>
                  <a:lnTo>
                    <a:pt x="296041" y="1367621"/>
                  </a:lnTo>
                  <a:lnTo>
                    <a:pt x="259437" y="1325195"/>
                  </a:lnTo>
                  <a:lnTo>
                    <a:pt x="224966" y="1281018"/>
                  </a:lnTo>
                  <a:lnTo>
                    <a:pt x="192628" y="1235091"/>
                  </a:lnTo>
                  <a:lnTo>
                    <a:pt x="162573" y="1187639"/>
                  </a:lnTo>
                  <a:lnTo>
                    <a:pt x="134951" y="1138887"/>
                  </a:lnTo>
                  <a:lnTo>
                    <a:pt x="109761" y="1088835"/>
                  </a:lnTo>
                  <a:lnTo>
                    <a:pt x="87005" y="1037482"/>
                  </a:lnTo>
                  <a:lnTo>
                    <a:pt x="66784" y="985078"/>
                  </a:lnTo>
                  <a:lnTo>
                    <a:pt x="49203" y="931874"/>
                  </a:lnTo>
                  <a:lnTo>
                    <a:pt x="34262" y="877869"/>
                  </a:lnTo>
                  <a:lnTo>
                    <a:pt x="21961" y="823063"/>
                  </a:lnTo>
                  <a:lnTo>
                    <a:pt x="12353" y="767721"/>
                  </a:lnTo>
                  <a:lnTo>
                    <a:pt x="5490" y="712109"/>
                  </a:lnTo>
                  <a:lnTo>
                    <a:pt x="1372" y="656227"/>
                  </a:lnTo>
                  <a:lnTo>
                    <a:pt x="0" y="600075"/>
                  </a:lnTo>
                  <a:lnTo>
                    <a:pt x="1372" y="543922"/>
                  </a:lnTo>
                  <a:lnTo>
                    <a:pt x="5490" y="488040"/>
                  </a:lnTo>
                  <a:lnTo>
                    <a:pt x="12353" y="432428"/>
                  </a:lnTo>
                  <a:lnTo>
                    <a:pt x="21961" y="377086"/>
                  </a:lnTo>
                  <a:lnTo>
                    <a:pt x="34262" y="322280"/>
                  </a:lnTo>
                  <a:lnTo>
                    <a:pt x="49203" y="268275"/>
                  </a:lnTo>
                  <a:lnTo>
                    <a:pt x="66784" y="215071"/>
                  </a:lnTo>
                  <a:lnTo>
                    <a:pt x="87005" y="162667"/>
                  </a:lnTo>
                  <a:lnTo>
                    <a:pt x="109761" y="111314"/>
                  </a:lnTo>
                  <a:lnTo>
                    <a:pt x="134951" y="61262"/>
                  </a:lnTo>
                  <a:lnTo>
                    <a:pt x="162573" y="12510"/>
                  </a:lnTo>
                  <a:lnTo>
                    <a:pt x="170497" y="0"/>
                  </a:lnTo>
                  <a:lnTo>
                    <a:pt x="1647825" y="0"/>
                  </a:lnTo>
                  <a:lnTo>
                    <a:pt x="1647825" y="1625227"/>
                  </a:lnTo>
                  <a:lnTo>
                    <a:pt x="1631759" y="1633312"/>
                  </a:lnTo>
                  <a:lnTo>
                    <a:pt x="1580406" y="1656069"/>
                  </a:lnTo>
                  <a:lnTo>
                    <a:pt x="1528002" y="1676289"/>
                  </a:lnTo>
                  <a:lnTo>
                    <a:pt x="1474798" y="1693870"/>
                  </a:lnTo>
                  <a:lnTo>
                    <a:pt x="1420793" y="1708811"/>
                  </a:lnTo>
                  <a:lnTo>
                    <a:pt x="1365987" y="1721112"/>
                  </a:lnTo>
                  <a:lnTo>
                    <a:pt x="1310646" y="1730721"/>
                  </a:lnTo>
                  <a:lnTo>
                    <a:pt x="1255034" y="1737584"/>
                  </a:lnTo>
                  <a:lnTo>
                    <a:pt x="1199152" y="1741702"/>
                  </a:lnTo>
                  <a:lnTo>
                    <a:pt x="1143000" y="1743075"/>
                  </a:lnTo>
                  <a:close/>
                </a:path>
              </a:pathLst>
            </a:custGeom>
            <a:solidFill>
              <a:srgbClr val="14B8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6175" y="0"/>
              <a:ext cx="1647825" cy="1743075"/>
            </a:xfrm>
            <a:custGeom>
              <a:avLst/>
              <a:gdLst/>
              <a:ahLst/>
              <a:cxnLst/>
              <a:rect l="l" t="t" r="r" b="b"/>
              <a:pathLst>
                <a:path w="1647825" h="1743075">
                  <a:moveTo>
                    <a:pt x="1647825" y="1625227"/>
                  </a:moveTo>
                  <a:lnTo>
                    <a:pt x="1580406" y="1656069"/>
                  </a:lnTo>
                  <a:lnTo>
                    <a:pt x="1528002" y="1676289"/>
                  </a:lnTo>
                  <a:lnTo>
                    <a:pt x="1474798" y="1693870"/>
                  </a:lnTo>
                  <a:lnTo>
                    <a:pt x="1420793" y="1708811"/>
                  </a:lnTo>
                  <a:lnTo>
                    <a:pt x="1365987" y="1721112"/>
                  </a:lnTo>
                  <a:lnTo>
                    <a:pt x="1310646" y="1730721"/>
                  </a:lnTo>
                  <a:lnTo>
                    <a:pt x="1255034" y="1737584"/>
                  </a:lnTo>
                  <a:lnTo>
                    <a:pt x="1199152" y="1741702"/>
                  </a:lnTo>
                  <a:lnTo>
                    <a:pt x="1143000" y="1743075"/>
                  </a:lnTo>
                  <a:lnTo>
                    <a:pt x="1086847" y="1741702"/>
                  </a:lnTo>
                  <a:lnTo>
                    <a:pt x="1030964" y="1737584"/>
                  </a:lnTo>
                  <a:lnTo>
                    <a:pt x="975353" y="1730721"/>
                  </a:lnTo>
                  <a:lnTo>
                    <a:pt x="920011" y="1721112"/>
                  </a:lnTo>
                  <a:lnTo>
                    <a:pt x="865205" y="1708811"/>
                  </a:lnTo>
                  <a:lnTo>
                    <a:pt x="811200" y="1693870"/>
                  </a:lnTo>
                  <a:lnTo>
                    <a:pt x="757995" y="1676289"/>
                  </a:lnTo>
                  <a:lnTo>
                    <a:pt x="705591" y="1656069"/>
                  </a:lnTo>
                  <a:lnTo>
                    <a:pt x="654239" y="1633312"/>
                  </a:lnTo>
                  <a:lnTo>
                    <a:pt x="604186" y="1608122"/>
                  </a:lnTo>
                  <a:lnTo>
                    <a:pt x="555434" y="1580500"/>
                  </a:lnTo>
                  <a:lnTo>
                    <a:pt x="507982" y="1550444"/>
                  </a:lnTo>
                  <a:lnTo>
                    <a:pt x="462055" y="1518106"/>
                  </a:lnTo>
                  <a:lnTo>
                    <a:pt x="417879" y="1483636"/>
                  </a:lnTo>
                  <a:lnTo>
                    <a:pt x="375453" y="1447033"/>
                  </a:lnTo>
                  <a:lnTo>
                    <a:pt x="334776" y="1408298"/>
                  </a:lnTo>
                  <a:lnTo>
                    <a:pt x="296041" y="1367621"/>
                  </a:lnTo>
                  <a:lnTo>
                    <a:pt x="259437" y="1325195"/>
                  </a:lnTo>
                  <a:lnTo>
                    <a:pt x="224966" y="1281018"/>
                  </a:lnTo>
                  <a:lnTo>
                    <a:pt x="192628" y="1235091"/>
                  </a:lnTo>
                  <a:lnTo>
                    <a:pt x="162573" y="1187639"/>
                  </a:lnTo>
                  <a:lnTo>
                    <a:pt x="134951" y="1138887"/>
                  </a:lnTo>
                  <a:lnTo>
                    <a:pt x="109761" y="1088835"/>
                  </a:lnTo>
                  <a:lnTo>
                    <a:pt x="87005" y="1037482"/>
                  </a:lnTo>
                  <a:lnTo>
                    <a:pt x="66784" y="985078"/>
                  </a:lnTo>
                  <a:lnTo>
                    <a:pt x="49203" y="931874"/>
                  </a:lnTo>
                  <a:lnTo>
                    <a:pt x="34262" y="877869"/>
                  </a:lnTo>
                  <a:lnTo>
                    <a:pt x="21961" y="823063"/>
                  </a:lnTo>
                  <a:lnTo>
                    <a:pt x="12353" y="767721"/>
                  </a:lnTo>
                  <a:lnTo>
                    <a:pt x="5490" y="712109"/>
                  </a:lnTo>
                  <a:lnTo>
                    <a:pt x="1372" y="656227"/>
                  </a:lnTo>
                  <a:lnTo>
                    <a:pt x="0" y="600075"/>
                  </a:lnTo>
                  <a:lnTo>
                    <a:pt x="1372" y="543922"/>
                  </a:lnTo>
                  <a:lnTo>
                    <a:pt x="5490" y="488040"/>
                  </a:lnTo>
                  <a:lnTo>
                    <a:pt x="12353" y="432428"/>
                  </a:lnTo>
                  <a:lnTo>
                    <a:pt x="21961" y="377086"/>
                  </a:lnTo>
                  <a:lnTo>
                    <a:pt x="34262" y="322280"/>
                  </a:lnTo>
                  <a:lnTo>
                    <a:pt x="49203" y="268275"/>
                  </a:lnTo>
                  <a:lnTo>
                    <a:pt x="66784" y="215071"/>
                  </a:lnTo>
                  <a:lnTo>
                    <a:pt x="87005" y="162667"/>
                  </a:lnTo>
                  <a:lnTo>
                    <a:pt x="109761" y="111314"/>
                  </a:lnTo>
                  <a:lnTo>
                    <a:pt x="134951" y="61262"/>
                  </a:lnTo>
                  <a:lnTo>
                    <a:pt x="162573" y="12510"/>
                  </a:lnTo>
                  <a:lnTo>
                    <a:pt x="170497" y="0"/>
                  </a:lnTo>
                </a:path>
              </a:pathLst>
            </a:custGeom>
            <a:ln w="9525">
              <a:solidFill>
                <a:srgbClr val="14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925" y="590550"/>
            <a:ext cx="590550" cy="5905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63650" y="668629"/>
            <a:ext cx="2936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D9488"/>
                </a:solidFill>
                <a:latin typeface="Roboto"/>
                <a:cs typeface="Roboto"/>
              </a:rPr>
              <a:t>Advanced</a:t>
            </a:r>
            <a:r>
              <a:rPr sz="1100" spc="-30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0D9488"/>
                </a:solidFill>
                <a:latin typeface="Roboto"/>
                <a:cs typeface="Roboto"/>
              </a:rPr>
              <a:t>Programming</a:t>
            </a:r>
            <a:r>
              <a:rPr sz="1100" spc="35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0D9488"/>
                </a:solidFill>
                <a:latin typeface="Roboto"/>
                <a:cs typeface="Roboto"/>
              </a:rPr>
              <a:t>(OOPS)</a:t>
            </a:r>
            <a:r>
              <a:rPr sz="1100" spc="250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0D9488"/>
                </a:solidFill>
                <a:latin typeface="Roboto"/>
                <a:cs typeface="Roboto"/>
              </a:rPr>
              <a:t>·</a:t>
            </a:r>
            <a:r>
              <a:rPr sz="1100" spc="265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0D9488"/>
                </a:solidFill>
                <a:latin typeface="Roboto"/>
                <a:cs typeface="Roboto"/>
              </a:rPr>
              <a:t>Spring</a:t>
            </a:r>
            <a:r>
              <a:rPr sz="1100" spc="40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1100" spc="-20" dirty="0">
                <a:solidFill>
                  <a:srgbClr val="0D9488"/>
                </a:solidFill>
                <a:latin typeface="Roboto"/>
                <a:cs typeface="Roboto"/>
              </a:rPr>
              <a:t>2026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82600" y="1380744"/>
            <a:ext cx="66675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Library</a:t>
            </a:r>
            <a:r>
              <a:rPr sz="4000" spc="145" dirty="0"/>
              <a:t> </a:t>
            </a:r>
            <a:r>
              <a:rPr sz="4000" dirty="0"/>
              <a:t>Management</a:t>
            </a:r>
            <a:r>
              <a:rPr sz="4000" spc="75" dirty="0"/>
              <a:t> </a:t>
            </a:r>
            <a:r>
              <a:rPr sz="4000" spc="-10" dirty="0"/>
              <a:t>System</a:t>
            </a:r>
            <a:endParaRPr sz="4000"/>
          </a:p>
        </p:txBody>
      </p:sp>
      <p:grpSp>
        <p:nvGrpSpPr>
          <p:cNvPr id="13" name="object 13"/>
          <p:cNvGrpSpPr/>
          <p:nvPr/>
        </p:nvGrpSpPr>
        <p:grpSpPr>
          <a:xfrm>
            <a:off x="490537" y="2290762"/>
            <a:ext cx="5038725" cy="38100"/>
            <a:chOff x="490537" y="2290762"/>
            <a:chExt cx="5038725" cy="38100"/>
          </a:xfrm>
        </p:grpSpPr>
        <p:sp>
          <p:nvSpPr>
            <p:cNvPr id="14" name="object 14"/>
            <p:cNvSpPr/>
            <p:nvPr/>
          </p:nvSpPr>
          <p:spPr>
            <a:xfrm>
              <a:off x="495299" y="2295525"/>
              <a:ext cx="5029200" cy="28575"/>
            </a:xfrm>
            <a:custGeom>
              <a:avLst/>
              <a:gdLst/>
              <a:ahLst/>
              <a:cxnLst/>
              <a:rect l="l" t="t" r="r" b="b"/>
              <a:pathLst>
                <a:path w="5029200" h="28575">
                  <a:moveTo>
                    <a:pt x="5029200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5029200" y="0"/>
                  </a:lnTo>
                  <a:lnTo>
                    <a:pt x="5029200" y="28575"/>
                  </a:lnTo>
                  <a:close/>
                </a:path>
              </a:pathLst>
            </a:custGeom>
            <a:solidFill>
              <a:srgbClr val="14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5299" y="2295525"/>
              <a:ext cx="5029200" cy="28575"/>
            </a:xfrm>
            <a:custGeom>
              <a:avLst/>
              <a:gdLst/>
              <a:ahLst/>
              <a:cxnLst/>
              <a:rect l="l" t="t" r="r" b="b"/>
              <a:pathLst>
                <a:path w="5029200" h="28575">
                  <a:moveTo>
                    <a:pt x="0" y="0"/>
                  </a:moveTo>
                  <a:lnTo>
                    <a:pt x="5029200" y="0"/>
                  </a:lnTo>
                  <a:lnTo>
                    <a:pt x="5029200" y="28575"/>
                  </a:lnTo>
                  <a:lnTo>
                    <a:pt x="0" y="28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4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90537" y="3652837"/>
            <a:ext cx="2657475" cy="447675"/>
            <a:chOff x="490537" y="3652837"/>
            <a:chExt cx="2657475" cy="447675"/>
          </a:xfrm>
        </p:grpSpPr>
        <p:sp>
          <p:nvSpPr>
            <p:cNvPr id="17" name="object 17"/>
            <p:cNvSpPr/>
            <p:nvPr/>
          </p:nvSpPr>
          <p:spPr>
            <a:xfrm>
              <a:off x="495299" y="3657600"/>
              <a:ext cx="2647950" cy="438150"/>
            </a:xfrm>
            <a:custGeom>
              <a:avLst/>
              <a:gdLst/>
              <a:ahLst/>
              <a:cxnLst/>
              <a:rect l="l" t="t" r="r" b="b"/>
              <a:pathLst>
                <a:path w="2647950" h="438150">
                  <a:moveTo>
                    <a:pt x="2574923" y="438150"/>
                  </a:moveTo>
                  <a:lnTo>
                    <a:pt x="73026" y="438150"/>
                  </a:lnTo>
                  <a:lnTo>
                    <a:pt x="58455" y="436813"/>
                  </a:lnTo>
                  <a:lnTo>
                    <a:pt x="21388" y="416761"/>
                  </a:lnTo>
                  <a:lnTo>
                    <a:pt x="1336" y="379694"/>
                  </a:lnTo>
                  <a:lnTo>
                    <a:pt x="0" y="365123"/>
                  </a:lnTo>
                  <a:lnTo>
                    <a:pt x="0" y="73026"/>
                  </a:lnTo>
                  <a:lnTo>
                    <a:pt x="12031" y="32636"/>
                  </a:lnTo>
                  <a:lnTo>
                    <a:pt x="44992" y="5347"/>
                  </a:lnTo>
                  <a:lnTo>
                    <a:pt x="73026" y="0"/>
                  </a:lnTo>
                  <a:lnTo>
                    <a:pt x="2574923" y="0"/>
                  </a:lnTo>
                  <a:lnTo>
                    <a:pt x="2615312" y="12031"/>
                  </a:lnTo>
                  <a:lnTo>
                    <a:pt x="2642602" y="44992"/>
                  </a:lnTo>
                  <a:lnTo>
                    <a:pt x="2647950" y="73026"/>
                  </a:lnTo>
                  <a:lnTo>
                    <a:pt x="2647950" y="365123"/>
                  </a:lnTo>
                  <a:lnTo>
                    <a:pt x="2635918" y="405512"/>
                  </a:lnTo>
                  <a:lnTo>
                    <a:pt x="2602957" y="432802"/>
                  </a:lnTo>
                  <a:lnTo>
                    <a:pt x="2574923" y="438150"/>
                  </a:lnTo>
                  <a:close/>
                </a:path>
              </a:pathLst>
            </a:custGeom>
            <a:solidFill>
              <a:srgbClr val="0D9488">
                <a:alpha val="2470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5299" y="3657600"/>
              <a:ext cx="2647950" cy="438150"/>
            </a:xfrm>
            <a:custGeom>
              <a:avLst/>
              <a:gdLst/>
              <a:ahLst/>
              <a:cxnLst/>
              <a:rect l="l" t="t" r="r" b="b"/>
              <a:pathLst>
                <a:path w="2647950" h="438150">
                  <a:moveTo>
                    <a:pt x="0" y="73026"/>
                  </a:moveTo>
                  <a:lnTo>
                    <a:pt x="12031" y="32636"/>
                  </a:lnTo>
                  <a:lnTo>
                    <a:pt x="44992" y="5347"/>
                  </a:lnTo>
                  <a:lnTo>
                    <a:pt x="73026" y="0"/>
                  </a:lnTo>
                  <a:lnTo>
                    <a:pt x="2574923" y="0"/>
                  </a:lnTo>
                  <a:lnTo>
                    <a:pt x="2615312" y="12031"/>
                  </a:lnTo>
                  <a:lnTo>
                    <a:pt x="2642602" y="44992"/>
                  </a:lnTo>
                  <a:lnTo>
                    <a:pt x="2647950" y="73026"/>
                  </a:lnTo>
                  <a:lnTo>
                    <a:pt x="2647950" y="365123"/>
                  </a:lnTo>
                  <a:lnTo>
                    <a:pt x="2635918" y="405512"/>
                  </a:lnTo>
                  <a:lnTo>
                    <a:pt x="2602957" y="432802"/>
                  </a:lnTo>
                  <a:lnTo>
                    <a:pt x="2574923" y="438150"/>
                  </a:lnTo>
                  <a:lnTo>
                    <a:pt x="73026" y="438150"/>
                  </a:lnTo>
                  <a:lnTo>
                    <a:pt x="32637" y="426118"/>
                  </a:lnTo>
                  <a:lnTo>
                    <a:pt x="5347" y="393157"/>
                  </a:lnTo>
                  <a:lnTo>
                    <a:pt x="0" y="365123"/>
                  </a:lnTo>
                  <a:lnTo>
                    <a:pt x="0" y="73026"/>
                  </a:lnTo>
                  <a:close/>
                </a:path>
                <a:path w="2647950" h="438150">
                  <a:moveTo>
                    <a:pt x="0" y="73026"/>
                  </a:moveTo>
                  <a:lnTo>
                    <a:pt x="12031" y="32636"/>
                  </a:lnTo>
                  <a:lnTo>
                    <a:pt x="44992" y="5347"/>
                  </a:lnTo>
                  <a:lnTo>
                    <a:pt x="73026" y="0"/>
                  </a:lnTo>
                  <a:lnTo>
                    <a:pt x="2574923" y="0"/>
                  </a:lnTo>
                  <a:lnTo>
                    <a:pt x="2615312" y="12031"/>
                  </a:lnTo>
                  <a:lnTo>
                    <a:pt x="2642602" y="44992"/>
                  </a:lnTo>
                  <a:lnTo>
                    <a:pt x="2647950" y="73026"/>
                  </a:lnTo>
                  <a:lnTo>
                    <a:pt x="2647950" y="365123"/>
                  </a:lnTo>
                  <a:lnTo>
                    <a:pt x="2635918" y="405512"/>
                  </a:lnTo>
                  <a:lnTo>
                    <a:pt x="2602957" y="432802"/>
                  </a:lnTo>
                  <a:lnTo>
                    <a:pt x="2574923" y="438150"/>
                  </a:lnTo>
                  <a:lnTo>
                    <a:pt x="73026" y="438150"/>
                  </a:lnTo>
                  <a:lnTo>
                    <a:pt x="32637" y="426118"/>
                  </a:lnTo>
                  <a:lnTo>
                    <a:pt x="5347" y="393157"/>
                  </a:lnTo>
                  <a:lnTo>
                    <a:pt x="0" y="365123"/>
                  </a:lnTo>
                  <a:lnTo>
                    <a:pt x="0" y="73026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74" y="3724275"/>
              <a:ext cx="247650" cy="24765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5" dirty="0"/>
              <a:t> </a:t>
            </a:r>
            <a:r>
              <a:rPr spc="-10" dirty="0"/>
              <a:t>Statement</a:t>
            </a:r>
          </a:p>
          <a:p>
            <a:pPr marL="12700" marR="5080">
              <a:lnSpc>
                <a:spcPct val="105800"/>
              </a:lnSpc>
              <a:spcBef>
                <a:spcPts val="1015"/>
              </a:spcBef>
            </a:pPr>
            <a:r>
              <a:rPr sz="1300" dirty="0">
                <a:solidFill>
                  <a:srgbClr val="CBD4E1"/>
                </a:solidFill>
              </a:rPr>
              <a:t>Small </a:t>
            </a:r>
            <a:r>
              <a:rPr sz="1300" spc="-25" dirty="0">
                <a:solidFill>
                  <a:srgbClr val="CBD4E1"/>
                </a:solidFill>
              </a:rPr>
              <a:t>libraries</a:t>
            </a:r>
            <a:r>
              <a:rPr sz="1300" spc="-5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rely</a:t>
            </a:r>
            <a:r>
              <a:rPr sz="1300" spc="13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on</a:t>
            </a:r>
            <a:r>
              <a:rPr sz="1300" spc="4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handwritten</a:t>
            </a:r>
            <a:r>
              <a:rPr sz="1300" spc="4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registers</a:t>
            </a:r>
            <a:r>
              <a:rPr sz="1300" spc="-5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and</a:t>
            </a:r>
            <a:r>
              <a:rPr sz="1300" spc="30" dirty="0">
                <a:solidFill>
                  <a:srgbClr val="CBD4E1"/>
                </a:solidFill>
              </a:rPr>
              <a:t> </a:t>
            </a:r>
            <a:r>
              <a:rPr sz="1300" spc="-10" dirty="0">
                <a:solidFill>
                  <a:srgbClr val="CBD4E1"/>
                </a:solidFill>
              </a:rPr>
              <a:t>spreadsheets</a:t>
            </a:r>
            <a:r>
              <a:rPr sz="1300" spc="-5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—</a:t>
            </a:r>
            <a:r>
              <a:rPr sz="1300" spc="25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leading</a:t>
            </a:r>
            <a:r>
              <a:rPr sz="1300" spc="100" dirty="0">
                <a:solidFill>
                  <a:srgbClr val="CBD4E1"/>
                </a:solidFill>
              </a:rPr>
              <a:t> </a:t>
            </a:r>
            <a:r>
              <a:rPr sz="1300" spc="-25" dirty="0">
                <a:solidFill>
                  <a:srgbClr val="CBD4E1"/>
                </a:solidFill>
              </a:rPr>
              <a:t>to </a:t>
            </a:r>
            <a:r>
              <a:rPr sz="1300" spc="-10" dirty="0">
                <a:solidFill>
                  <a:srgbClr val="CBD4E1"/>
                </a:solidFill>
              </a:rPr>
              <a:t>errors,</a:t>
            </a:r>
            <a:r>
              <a:rPr sz="1300" spc="6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duplicate</a:t>
            </a:r>
            <a:r>
              <a:rPr sz="1300" spc="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entries,</a:t>
            </a:r>
            <a:r>
              <a:rPr sz="1300" spc="6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and</a:t>
            </a:r>
            <a:r>
              <a:rPr sz="1300" spc="3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no</a:t>
            </a:r>
            <a:r>
              <a:rPr sz="1300" spc="25" dirty="0">
                <a:solidFill>
                  <a:srgbClr val="CBD4E1"/>
                </a:solidFill>
              </a:rPr>
              <a:t> </a:t>
            </a:r>
            <a:r>
              <a:rPr sz="1300" spc="-10" dirty="0">
                <a:solidFill>
                  <a:srgbClr val="CBD4E1"/>
                </a:solidFill>
              </a:rPr>
              <a:t>reliable</a:t>
            </a:r>
            <a:r>
              <a:rPr sz="1300" spc="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way</a:t>
            </a:r>
            <a:r>
              <a:rPr sz="1300" spc="14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to</a:t>
            </a:r>
            <a:r>
              <a:rPr sz="1300" spc="3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track</a:t>
            </a:r>
            <a:r>
              <a:rPr sz="1300" spc="30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which</a:t>
            </a:r>
            <a:r>
              <a:rPr sz="1300" spc="5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books</a:t>
            </a:r>
            <a:r>
              <a:rPr sz="1300" spc="-45" dirty="0">
                <a:solidFill>
                  <a:srgbClr val="CBD4E1"/>
                </a:solidFill>
              </a:rPr>
              <a:t> </a:t>
            </a:r>
            <a:r>
              <a:rPr sz="1300" dirty="0">
                <a:solidFill>
                  <a:srgbClr val="CBD4E1"/>
                </a:solidFill>
              </a:rPr>
              <a:t>are</a:t>
            </a:r>
            <a:r>
              <a:rPr sz="1300" spc="5" dirty="0">
                <a:solidFill>
                  <a:srgbClr val="CBD4E1"/>
                </a:solidFill>
              </a:rPr>
              <a:t> </a:t>
            </a:r>
            <a:r>
              <a:rPr sz="1300" spc="-10" dirty="0">
                <a:solidFill>
                  <a:srgbClr val="CBD4E1"/>
                </a:solidFill>
              </a:rPr>
              <a:t>currently issued.</a:t>
            </a:r>
            <a:endParaRPr sz="1300"/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300"/>
          </a:p>
          <a:p>
            <a:pPr marL="469900" marR="3421379">
              <a:lnSpc>
                <a:spcPct val="106300"/>
              </a:lnSpc>
            </a:pPr>
            <a:r>
              <a:rPr sz="1000" dirty="0">
                <a:solidFill>
                  <a:srgbClr val="F0FDFA"/>
                </a:solidFill>
              </a:rPr>
              <a:t>Target:</a:t>
            </a:r>
            <a:r>
              <a:rPr sz="1000" spc="-15" dirty="0">
                <a:solidFill>
                  <a:srgbClr val="F0FDFA"/>
                </a:solidFill>
              </a:rPr>
              <a:t> </a:t>
            </a:r>
            <a:r>
              <a:rPr sz="1000" dirty="0">
                <a:solidFill>
                  <a:srgbClr val="F0FDFA"/>
                </a:solidFill>
              </a:rPr>
              <a:t>Small</a:t>
            </a:r>
            <a:r>
              <a:rPr sz="1000" spc="-15" dirty="0">
                <a:solidFill>
                  <a:srgbClr val="F0FDFA"/>
                </a:solidFill>
              </a:rPr>
              <a:t> </a:t>
            </a:r>
            <a:r>
              <a:rPr sz="1000" spc="-10" dirty="0">
                <a:solidFill>
                  <a:srgbClr val="F0FDFA"/>
                </a:solidFill>
              </a:rPr>
              <a:t>Libraries</a:t>
            </a:r>
            <a:r>
              <a:rPr sz="1000" spc="-50" dirty="0">
                <a:solidFill>
                  <a:srgbClr val="F0FDFA"/>
                </a:solidFill>
              </a:rPr>
              <a:t> </a:t>
            </a:r>
            <a:r>
              <a:rPr sz="1000" dirty="0">
                <a:solidFill>
                  <a:srgbClr val="F0FDFA"/>
                </a:solidFill>
              </a:rPr>
              <a:t>&amp;</a:t>
            </a:r>
            <a:r>
              <a:rPr sz="1000" spc="-20" dirty="0">
                <a:solidFill>
                  <a:srgbClr val="F0FDFA"/>
                </a:solidFill>
              </a:rPr>
              <a:t> </a:t>
            </a:r>
            <a:r>
              <a:rPr sz="1000" spc="-10" dirty="0">
                <a:solidFill>
                  <a:srgbClr val="F0FDFA"/>
                </a:solidFill>
              </a:rPr>
              <a:t>Academic Institutions</a:t>
            </a: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8312150" y="4554829"/>
            <a:ext cx="659765" cy="173766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85725">
              <a:lnSpc>
                <a:spcPct val="102299"/>
              </a:lnSpc>
              <a:spcBef>
                <a:spcPts val="70"/>
              </a:spcBef>
            </a:pPr>
            <a:endParaRPr sz="11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828675"/>
            <a:chOff x="-4762" y="-4762"/>
            <a:chExt cx="9153525" cy="82867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819150"/>
            </a:xfrm>
            <a:custGeom>
              <a:avLst/>
              <a:gdLst/>
              <a:ahLst/>
              <a:cxnLst/>
              <a:rect l="l" t="t" r="r" b="b"/>
              <a:pathLst>
                <a:path w="9144000" h="819150">
                  <a:moveTo>
                    <a:pt x="9144000" y="819150"/>
                  </a:moveTo>
                  <a:lnTo>
                    <a:pt x="0" y="81915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819150"/>
                  </a:lnTo>
                  <a:close/>
                </a:path>
              </a:pathLst>
            </a:custGeom>
            <a:solidFill>
              <a:srgbClr val="1B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819150"/>
            </a:xfrm>
            <a:custGeom>
              <a:avLst/>
              <a:gdLst/>
              <a:ahLst/>
              <a:cxnLst/>
              <a:rect l="l" t="t" r="r" b="b"/>
              <a:pathLst>
                <a:path w="9144000" h="819150">
                  <a:moveTo>
                    <a:pt x="0" y="0"/>
                  </a:moveTo>
                  <a:lnTo>
                    <a:pt x="9144000" y="0"/>
                  </a:lnTo>
                  <a:lnTo>
                    <a:pt x="9144000" y="819150"/>
                  </a:lnTo>
                  <a:lnTo>
                    <a:pt x="0" y="819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B1B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" y="161925"/>
              <a:ext cx="457200" cy="4572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5500" y="157708"/>
            <a:ext cx="22586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180" dirty="0"/>
              <a:t> </a:t>
            </a:r>
            <a:r>
              <a:rPr spc="-10" dirty="0"/>
              <a:t>Design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93125" y="307492"/>
            <a:ext cx="373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Slide </a:t>
            </a:r>
            <a:r>
              <a:rPr sz="900" spc="-50" dirty="0">
                <a:solidFill>
                  <a:srgbClr val="94A3B8"/>
                </a:solidFill>
                <a:latin typeface="Roboto"/>
                <a:cs typeface="Roboto"/>
              </a:rPr>
              <a:t>2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1937" y="947737"/>
            <a:ext cx="3752850" cy="3619500"/>
            <a:chOff x="261937" y="947737"/>
            <a:chExt cx="3752850" cy="3619500"/>
          </a:xfrm>
        </p:grpSpPr>
        <p:sp>
          <p:nvSpPr>
            <p:cNvPr id="9" name="object 9"/>
            <p:cNvSpPr/>
            <p:nvPr/>
          </p:nvSpPr>
          <p:spPr>
            <a:xfrm>
              <a:off x="266700" y="952500"/>
              <a:ext cx="3743325" cy="3609975"/>
            </a:xfrm>
            <a:custGeom>
              <a:avLst/>
              <a:gdLst/>
              <a:ahLst/>
              <a:cxnLst/>
              <a:rect l="l" t="t" r="r" b="b"/>
              <a:pathLst>
                <a:path w="3743325" h="3609975">
                  <a:moveTo>
                    <a:pt x="3743325" y="3609975"/>
                  </a:moveTo>
                  <a:lnTo>
                    <a:pt x="0" y="3609975"/>
                  </a:lnTo>
                  <a:lnTo>
                    <a:pt x="0" y="0"/>
                  </a:lnTo>
                  <a:lnTo>
                    <a:pt x="3743325" y="0"/>
                  </a:lnTo>
                  <a:lnTo>
                    <a:pt x="3743325" y="3609975"/>
                  </a:lnTo>
                  <a:close/>
                </a:path>
              </a:pathLst>
            </a:custGeom>
            <a:solidFill>
              <a:srgbClr val="1B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6700" y="952500"/>
              <a:ext cx="3743325" cy="3609975"/>
            </a:xfrm>
            <a:custGeom>
              <a:avLst/>
              <a:gdLst/>
              <a:ahLst/>
              <a:cxnLst/>
              <a:rect l="l" t="t" r="r" b="b"/>
              <a:pathLst>
                <a:path w="3743325" h="3609975">
                  <a:moveTo>
                    <a:pt x="0" y="0"/>
                  </a:moveTo>
                  <a:lnTo>
                    <a:pt x="3743325" y="0"/>
                  </a:lnTo>
                  <a:lnTo>
                    <a:pt x="3743325" y="3609975"/>
                  </a:lnTo>
                  <a:lnTo>
                    <a:pt x="0" y="3609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B1B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6875" y="1078204"/>
            <a:ext cx="7912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0D9488"/>
                </a:solidFill>
                <a:latin typeface="Roboto"/>
                <a:cs typeface="Roboto"/>
              </a:rPr>
              <a:t>Architecture</a:t>
            </a:r>
            <a:endParaRPr sz="1100">
              <a:latin typeface="Roboto"/>
              <a:cs typeface="Roboto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90537" y="1404937"/>
          <a:ext cx="3467100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0D9488"/>
                          </a:solidFill>
                          <a:latin typeface="Roboto"/>
                          <a:cs typeface="Roboto"/>
                        </a:rPr>
                        <a:t>«abstract»</a:t>
                      </a:r>
                      <a:r>
                        <a:rPr sz="900" spc="5" dirty="0">
                          <a:solidFill>
                            <a:srgbClr val="0D948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Person</a:t>
                      </a:r>
                      <a:r>
                        <a:rPr sz="900" spc="27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900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—</a:t>
                      </a:r>
                      <a:r>
                        <a:rPr sz="900" spc="405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900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name: </a:t>
                      </a:r>
                      <a:r>
                        <a:rPr sz="900" spc="-10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String</a:t>
                      </a:r>
                      <a:endParaRPr sz="900">
                        <a:latin typeface="Roboto"/>
                        <a:cs typeface="Roboto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D9488"/>
                      </a:solidFill>
                      <a:prstDash val="solid"/>
                    </a:lnL>
                    <a:lnR w="9525">
                      <a:solidFill>
                        <a:srgbClr val="0D9488"/>
                      </a:solidFill>
                      <a:prstDash val="solid"/>
                    </a:lnR>
                    <a:lnT w="9525">
                      <a:solidFill>
                        <a:srgbClr val="0D9488"/>
                      </a:solidFill>
                      <a:prstDash val="solid"/>
                    </a:lnT>
                    <a:lnB w="9525">
                      <a:solidFill>
                        <a:srgbClr val="0D9488"/>
                      </a:solidFill>
                      <a:prstDash val="solid"/>
                    </a:lnB>
                    <a:solidFill>
                      <a:srgbClr val="2D2D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05727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700" spc="-10" dirty="0">
                          <a:solidFill>
                            <a:srgbClr val="0D9488"/>
                          </a:solidFill>
                          <a:latin typeface="Roboto"/>
                          <a:cs typeface="Roboto"/>
                        </a:rPr>
                        <a:t>extends</a:t>
                      </a:r>
                      <a:endParaRPr sz="700">
                        <a:latin typeface="Roboto"/>
                        <a:cs typeface="Roboto"/>
                      </a:endParaRPr>
                    </a:p>
                  </a:txBody>
                  <a:tcPr marL="0" marR="0" marT="82550" marB="0">
                    <a:lnR w="19050">
                      <a:solidFill>
                        <a:srgbClr val="14B8A6"/>
                      </a:solidFill>
                      <a:prstDash val="solid"/>
                    </a:lnR>
                    <a:lnT w="9525">
                      <a:solidFill>
                        <a:srgbClr val="0D9488"/>
                      </a:solidFill>
                      <a:prstDash val="solid"/>
                    </a:lnT>
                    <a:lnB w="9525">
                      <a:solidFill>
                        <a:srgbClr val="0D9488"/>
                      </a:solidFill>
                      <a:prstDash val="solid"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14B8A6"/>
                      </a:solidFill>
                      <a:prstDash val="solid"/>
                    </a:lnL>
                    <a:lnT w="9525">
                      <a:solidFill>
                        <a:srgbClr val="0D9488"/>
                      </a:solidFill>
                      <a:prstDash val="solid"/>
                    </a:lnT>
                    <a:lnB w="9525">
                      <a:solidFill>
                        <a:srgbClr val="0D9488"/>
                      </a:solidFill>
                      <a:prstDash val="solid"/>
                    </a:lnB>
                    <a:solidFill>
                      <a:srgbClr val="1B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Student</a:t>
                      </a:r>
                      <a:r>
                        <a:rPr sz="900" spc="36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900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—</a:t>
                      </a:r>
                      <a:r>
                        <a:rPr sz="900" spc="459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900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student</a:t>
                      </a:r>
                      <a:r>
                        <a:rPr sz="900" spc="-145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900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Id:</a:t>
                      </a:r>
                      <a:r>
                        <a:rPr sz="900" spc="20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900" spc="-25" dirty="0">
                          <a:solidFill>
                            <a:srgbClr val="94A3B8"/>
                          </a:solidFill>
                          <a:latin typeface="Roboto"/>
                          <a:cs typeface="Roboto"/>
                        </a:rPr>
                        <a:t>int</a:t>
                      </a:r>
                      <a:endParaRPr sz="900">
                        <a:latin typeface="Roboto"/>
                        <a:cs typeface="Roboto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D9488"/>
                      </a:solidFill>
                      <a:prstDash val="solid"/>
                    </a:lnL>
                    <a:lnR w="9525">
                      <a:solidFill>
                        <a:srgbClr val="0D9488"/>
                      </a:solidFill>
                      <a:prstDash val="solid"/>
                    </a:lnR>
                    <a:lnT w="9525">
                      <a:solidFill>
                        <a:srgbClr val="0D9488"/>
                      </a:solidFill>
                      <a:prstDash val="solid"/>
                    </a:lnT>
                    <a:lnB w="9525">
                      <a:solidFill>
                        <a:srgbClr val="0D9488"/>
                      </a:solidFill>
                      <a:prstDash val="solid"/>
                    </a:lnB>
                    <a:solidFill>
                      <a:srgbClr val="2D2D4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95300" y="2847975"/>
            <a:ext cx="3381375" cy="495300"/>
          </a:xfrm>
          <a:prstGeom prst="rect">
            <a:avLst/>
          </a:prstGeom>
          <a:solidFill>
            <a:srgbClr val="2D2D44"/>
          </a:solidFill>
          <a:ln w="9525">
            <a:solidFill>
              <a:srgbClr val="0D948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Book</a:t>
            </a:r>
            <a:r>
              <a:rPr sz="900" spc="29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—</a:t>
            </a:r>
            <a:r>
              <a:rPr sz="900" spc="405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id,</a:t>
            </a:r>
            <a:r>
              <a:rPr sz="900" spc="40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name,</a:t>
            </a:r>
            <a:r>
              <a:rPr sz="900" spc="35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author,</a:t>
            </a:r>
            <a:r>
              <a:rPr sz="900" spc="40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isIssued,</a:t>
            </a:r>
            <a:r>
              <a:rPr sz="900" spc="40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94A3B8"/>
                </a:solidFill>
                <a:latin typeface="Roboto"/>
                <a:cs typeface="Roboto"/>
              </a:rPr>
              <a:t>issuedTo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300" y="3524250"/>
            <a:ext cx="3381375" cy="495300"/>
          </a:xfrm>
          <a:prstGeom prst="rect">
            <a:avLst/>
          </a:prstGeom>
          <a:solidFill>
            <a:srgbClr val="2D2D44"/>
          </a:solidFill>
          <a:ln w="9525">
            <a:solidFill>
              <a:srgbClr val="0D948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</a:pPr>
            <a:r>
              <a:rPr sz="900" spc="-20" dirty="0">
                <a:solidFill>
                  <a:srgbClr val="F49E0B"/>
                </a:solidFill>
                <a:latin typeface="Roboto"/>
                <a:cs typeface="Roboto"/>
              </a:rPr>
              <a:t>Library</a:t>
            </a:r>
            <a:r>
              <a:rPr sz="900" spc="-114" dirty="0">
                <a:solidFill>
                  <a:srgbClr val="F49E0B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49E0B"/>
                </a:solidFill>
                <a:latin typeface="Roboto"/>
                <a:cs typeface="Roboto"/>
              </a:rPr>
              <a:t>Management</a:t>
            </a:r>
            <a:r>
              <a:rPr sz="900" spc="355" dirty="0">
                <a:solidFill>
                  <a:srgbClr val="F49E0B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—</a:t>
            </a:r>
            <a:r>
              <a:rPr sz="900" spc="140" dirty="0">
                <a:solidFill>
                  <a:srgbClr val="94A3B8"/>
                </a:solidFill>
                <a:latin typeface="Roboto"/>
                <a:cs typeface="Roboto"/>
              </a:rPr>
              <a:t> 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books[],</a:t>
            </a:r>
            <a:r>
              <a:rPr sz="900" spc="75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count,</a:t>
            </a:r>
            <a:r>
              <a:rPr sz="900" spc="80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94A3B8"/>
                </a:solidFill>
                <a:latin typeface="Roboto"/>
                <a:cs typeface="Roboto"/>
              </a:rPr>
              <a:t>main()</a:t>
            </a:r>
            <a:endParaRPr sz="9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0700" y="973023"/>
            <a:ext cx="2114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4155"/>
                </a:solidFill>
                <a:latin typeface="Roboto"/>
                <a:cs typeface="Roboto"/>
              </a:rPr>
              <a:t>Key</a:t>
            </a:r>
            <a:r>
              <a:rPr sz="1200" spc="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334155"/>
                </a:solidFill>
                <a:latin typeface="Roboto"/>
                <a:cs typeface="Roboto"/>
              </a:rPr>
              <a:t>Classes</a:t>
            </a:r>
            <a:r>
              <a:rPr sz="12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34155"/>
                </a:solidFill>
                <a:latin typeface="Roboto"/>
                <a:cs typeface="Roboto"/>
              </a:rPr>
              <a:t>&amp;</a:t>
            </a:r>
            <a:r>
              <a:rPr sz="120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334155"/>
                </a:solidFill>
                <a:latin typeface="Roboto"/>
                <a:cs typeface="Roboto"/>
              </a:rPr>
              <a:t>Responsibilities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38637" y="1319212"/>
            <a:ext cx="4486275" cy="571500"/>
            <a:chOff x="4338637" y="1319212"/>
            <a:chExt cx="4486275" cy="571500"/>
          </a:xfrm>
        </p:grpSpPr>
        <p:sp>
          <p:nvSpPr>
            <p:cNvPr id="17" name="object 17"/>
            <p:cNvSpPr/>
            <p:nvPr/>
          </p:nvSpPr>
          <p:spPr>
            <a:xfrm>
              <a:off x="4400550" y="1323975"/>
              <a:ext cx="4419600" cy="561975"/>
            </a:xfrm>
            <a:custGeom>
              <a:avLst/>
              <a:gdLst/>
              <a:ahLst/>
              <a:cxnLst/>
              <a:rect l="l" t="t" r="r" b="b"/>
              <a:pathLst>
                <a:path w="4419600" h="561975">
                  <a:moveTo>
                    <a:pt x="0" y="561975"/>
                  </a:moveTo>
                  <a:lnTo>
                    <a:pt x="4419600" y="561975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561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3400" y="1323975"/>
              <a:ext cx="4476750" cy="561975"/>
            </a:xfrm>
            <a:custGeom>
              <a:avLst/>
              <a:gdLst/>
              <a:ahLst/>
              <a:cxnLst/>
              <a:rect l="l" t="t" r="r" b="b"/>
              <a:pathLst>
                <a:path w="4476750" h="561975">
                  <a:moveTo>
                    <a:pt x="0" y="0"/>
                  </a:moveTo>
                  <a:lnTo>
                    <a:pt x="4476750" y="0"/>
                  </a:lnTo>
                  <a:lnTo>
                    <a:pt x="44767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43400" y="1323975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57150" y="561975"/>
                  </a:moveTo>
                  <a:lnTo>
                    <a:pt x="0" y="5619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5619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43400" y="1323975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0" y="0"/>
                  </a:moveTo>
                  <a:lnTo>
                    <a:pt x="57150" y="0"/>
                  </a:lnTo>
                  <a:lnTo>
                    <a:pt x="571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338637" y="1976437"/>
            <a:ext cx="4486275" cy="571500"/>
            <a:chOff x="4338637" y="1976437"/>
            <a:chExt cx="4486275" cy="571500"/>
          </a:xfrm>
        </p:grpSpPr>
        <p:sp>
          <p:nvSpPr>
            <p:cNvPr id="22" name="object 22"/>
            <p:cNvSpPr/>
            <p:nvPr/>
          </p:nvSpPr>
          <p:spPr>
            <a:xfrm>
              <a:off x="4400550" y="1981200"/>
              <a:ext cx="4419600" cy="561975"/>
            </a:xfrm>
            <a:custGeom>
              <a:avLst/>
              <a:gdLst/>
              <a:ahLst/>
              <a:cxnLst/>
              <a:rect l="l" t="t" r="r" b="b"/>
              <a:pathLst>
                <a:path w="4419600" h="561975">
                  <a:moveTo>
                    <a:pt x="0" y="561975"/>
                  </a:moveTo>
                  <a:lnTo>
                    <a:pt x="4419600" y="561975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561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43400" y="1981200"/>
              <a:ext cx="4476750" cy="561975"/>
            </a:xfrm>
            <a:custGeom>
              <a:avLst/>
              <a:gdLst/>
              <a:ahLst/>
              <a:cxnLst/>
              <a:rect l="l" t="t" r="r" b="b"/>
              <a:pathLst>
                <a:path w="4476750" h="561975">
                  <a:moveTo>
                    <a:pt x="0" y="0"/>
                  </a:moveTo>
                  <a:lnTo>
                    <a:pt x="4476750" y="0"/>
                  </a:lnTo>
                  <a:lnTo>
                    <a:pt x="44767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43400" y="1981200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57150" y="561975"/>
                  </a:moveTo>
                  <a:lnTo>
                    <a:pt x="0" y="5619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5619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43400" y="1981200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0" y="0"/>
                  </a:moveTo>
                  <a:lnTo>
                    <a:pt x="57150" y="0"/>
                  </a:lnTo>
                  <a:lnTo>
                    <a:pt x="571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05312" y="1373479"/>
            <a:ext cx="4410075" cy="108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B1B2E"/>
                </a:solidFill>
                <a:latin typeface="Roboto"/>
                <a:cs typeface="Roboto"/>
              </a:rPr>
              <a:t>Person</a:t>
            </a:r>
            <a:endParaRPr sz="1100">
              <a:latin typeface="Roboto"/>
              <a:cs typeface="Roboto"/>
            </a:endParaRPr>
          </a:p>
          <a:p>
            <a:pPr marL="118745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Abstract</a:t>
            </a:r>
            <a:r>
              <a:rPr sz="900" spc="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root</a:t>
            </a:r>
            <a:r>
              <a:rPr sz="900" spc="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—</a:t>
            </a:r>
            <a:r>
              <a:rPr sz="900" spc="1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declares</a:t>
            </a:r>
            <a:r>
              <a:rPr sz="90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display()</a:t>
            </a:r>
            <a:r>
              <a:rPr sz="90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contract</a:t>
            </a: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900">
              <a:latin typeface="Roboto"/>
              <a:cs typeface="Roboto"/>
            </a:endParaRPr>
          </a:p>
          <a:p>
            <a:pPr marL="118745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1B1B2E"/>
                </a:solidFill>
                <a:latin typeface="Roboto"/>
                <a:cs typeface="Roboto"/>
              </a:rPr>
              <a:t>Student</a:t>
            </a:r>
            <a:endParaRPr sz="1100">
              <a:latin typeface="Roboto"/>
              <a:cs typeface="Roboto"/>
            </a:endParaRPr>
          </a:p>
          <a:p>
            <a:pPr marL="118745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Extends Person,</a:t>
            </a:r>
            <a:r>
              <a:rPr sz="900" spc="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adds</a:t>
            </a:r>
            <a:r>
              <a:rPr sz="900" spc="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student</a:t>
            </a:r>
            <a:r>
              <a:rPr sz="900" spc="-1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Id,</a:t>
            </a:r>
            <a:r>
              <a:rPr sz="900" spc="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overrides</a:t>
            </a:r>
            <a:r>
              <a:rPr sz="900" spc="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display()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38637" y="2633662"/>
            <a:ext cx="4486275" cy="571500"/>
            <a:chOff x="4338637" y="2633662"/>
            <a:chExt cx="4486275" cy="571500"/>
          </a:xfrm>
        </p:grpSpPr>
        <p:sp>
          <p:nvSpPr>
            <p:cNvPr id="28" name="object 28"/>
            <p:cNvSpPr/>
            <p:nvPr/>
          </p:nvSpPr>
          <p:spPr>
            <a:xfrm>
              <a:off x="4400550" y="2638425"/>
              <a:ext cx="4419600" cy="561975"/>
            </a:xfrm>
            <a:custGeom>
              <a:avLst/>
              <a:gdLst/>
              <a:ahLst/>
              <a:cxnLst/>
              <a:rect l="l" t="t" r="r" b="b"/>
              <a:pathLst>
                <a:path w="4419600" h="561975">
                  <a:moveTo>
                    <a:pt x="0" y="561975"/>
                  </a:moveTo>
                  <a:lnTo>
                    <a:pt x="4419600" y="561975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561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43400" y="2638425"/>
              <a:ext cx="4476750" cy="561975"/>
            </a:xfrm>
            <a:custGeom>
              <a:avLst/>
              <a:gdLst/>
              <a:ahLst/>
              <a:cxnLst/>
              <a:rect l="l" t="t" r="r" b="b"/>
              <a:pathLst>
                <a:path w="4476750" h="561975">
                  <a:moveTo>
                    <a:pt x="0" y="0"/>
                  </a:moveTo>
                  <a:lnTo>
                    <a:pt x="4476750" y="0"/>
                  </a:lnTo>
                  <a:lnTo>
                    <a:pt x="44767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43400" y="2638425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57150" y="561975"/>
                  </a:moveTo>
                  <a:lnTo>
                    <a:pt x="0" y="5619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561975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43400" y="2638425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0" y="0"/>
                  </a:moveTo>
                  <a:lnTo>
                    <a:pt x="57150" y="0"/>
                  </a:lnTo>
                  <a:lnTo>
                    <a:pt x="571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405312" y="2697454"/>
            <a:ext cx="441007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1B1B2E"/>
                </a:solidFill>
                <a:latin typeface="Roboto"/>
                <a:cs typeface="Roboto"/>
              </a:rPr>
              <a:t>Book</a:t>
            </a:r>
            <a:endParaRPr sz="1100">
              <a:latin typeface="Roboto"/>
              <a:cs typeface="Roboto"/>
            </a:endParaRPr>
          </a:p>
          <a:p>
            <a:pPr marL="118745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Stores</a:t>
            </a:r>
            <a:r>
              <a:rPr sz="900" spc="-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id,</a:t>
            </a:r>
            <a:r>
              <a:rPr sz="900" spc="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name,</a:t>
            </a:r>
            <a:r>
              <a:rPr sz="900" spc="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author,</a:t>
            </a:r>
            <a:r>
              <a:rPr sz="900" spc="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isIssued,</a:t>
            </a:r>
            <a:r>
              <a:rPr sz="900" spc="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issuedTo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338637" y="3290887"/>
            <a:ext cx="4486275" cy="571500"/>
            <a:chOff x="4338637" y="3290887"/>
            <a:chExt cx="4486275" cy="571500"/>
          </a:xfrm>
        </p:grpSpPr>
        <p:sp>
          <p:nvSpPr>
            <p:cNvPr id="34" name="object 34"/>
            <p:cNvSpPr/>
            <p:nvPr/>
          </p:nvSpPr>
          <p:spPr>
            <a:xfrm>
              <a:off x="4400550" y="3295650"/>
              <a:ext cx="4419600" cy="561975"/>
            </a:xfrm>
            <a:custGeom>
              <a:avLst/>
              <a:gdLst/>
              <a:ahLst/>
              <a:cxnLst/>
              <a:rect l="l" t="t" r="r" b="b"/>
              <a:pathLst>
                <a:path w="4419600" h="561975">
                  <a:moveTo>
                    <a:pt x="0" y="561975"/>
                  </a:moveTo>
                  <a:lnTo>
                    <a:pt x="4419600" y="561975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561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43400" y="3295650"/>
              <a:ext cx="4476750" cy="561975"/>
            </a:xfrm>
            <a:custGeom>
              <a:avLst/>
              <a:gdLst/>
              <a:ahLst/>
              <a:cxnLst/>
              <a:rect l="l" t="t" r="r" b="b"/>
              <a:pathLst>
                <a:path w="4476750" h="561975">
                  <a:moveTo>
                    <a:pt x="0" y="0"/>
                  </a:moveTo>
                  <a:lnTo>
                    <a:pt x="4476750" y="0"/>
                  </a:lnTo>
                  <a:lnTo>
                    <a:pt x="44767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43400" y="3295650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57150" y="561975"/>
                  </a:moveTo>
                  <a:lnTo>
                    <a:pt x="0" y="561975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561975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43400" y="3295650"/>
              <a:ext cx="57150" cy="561975"/>
            </a:xfrm>
            <a:custGeom>
              <a:avLst/>
              <a:gdLst/>
              <a:ahLst/>
              <a:cxnLst/>
              <a:rect l="l" t="t" r="r" b="b"/>
              <a:pathLst>
                <a:path w="57150" h="561975">
                  <a:moveTo>
                    <a:pt x="0" y="0"/>
                  </a:moveTo>
                  <a:lnTo>
                    <a:pt x="57150" y="0"/>
                  </a:lnTo>
                  <a:lnTo>
                    <a:pt x="57150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49E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405312" y="3354679"/>
            <a:ext cx="441007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B1B2E"/>
                </a:solidFill>
                <a:latin typeface="Roboto"/>
                <a:cs typeface="Roboto"/>
              </a:rPr>
              <a:t>LibraryManagement</a:t>
            </a:r>
            <a:endParaRPr sz="1100">
              <a:latin typeface="Roboto"/>
              <a:cs typeface="Roboto"/>
            </a:endParaRPr>
          </a:p>
          <a:p>
            <a:pPr marL="118745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Controller:</a:t>
            </a:r>
            <a:r>
              <a:rPr sz="900" spc="7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owns</a:t>
            </a:r>
            <a:r>
              <a:rPr sz="900" spc="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books[],</a:t>
            </a:r>
            <a:r>
              <a:rPr sz="900" spc="1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runs</a:t>
            </a:r>
            <a:r>
              <a:rPr sz="900" spc="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menu</a:t>
            </a:r>
            <a:r>
              <a:rPr sz="900" spc="1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334155"/>
                </a:solidFill>
                <a:latin typeface="Roboto"/>
                <a:cs typeface="Roboto"/>
              </a:rPr>
              <a:t>loop</a:t>
            </a:r>
            <a:endParaRPr sz="9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30700" y="4031360"/>
            <a:ext cx="1094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334155"/>
                </a:solidFill>
                <a:latin typeface="Roboto"/>
                <a:cs typeface="Roboto"/>
              </a:rPr>
              <a:t>Package</a:t>
            </a:r>
            <a:r>
              <a:rPr sz="100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334155"/>
                </a:solidFill>
                <a:latin typeface="Roboto"/>
                <a:cs typeface="Roboto"/>
              </a:rPr>
              <a:t>Structure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43400" y="4248150"/>
            <a:ext cx="4476750" cy="685800"/>
          </a:xfrm>
          <a:prstGeom prst="rect">
            <a:avLst/>
          </a:prstGeom>
          <a:solidFill>
            <a:srgbClr val="2D2D44"/>
          </a:solidFill>
          <a:ln w="9525">
            <a:solidFill>
              <a:srgbClr val="1B1B2E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endParaRPr sz="100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  <a:tabLst>
                <a:tab pos="1950085" algn="l"/>
              </a:tabLst>
            </a:pPr>
            <a:r>
              <a:rPr sz="1000" dirty="0">
                <a:solidFill>
                  <a:srgbClr val="0D9488"/>
                </a:solidFill>
                <a:latin typeface="Roboto"/>
                <a:cs typeface="Roboto"/>
              </a:rPr>
              <a:t>default</a:t>
            </a:r>
            <a:r>
              <a:rPr sz="1000" spc="105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0D9488"/>
                </a:solidFill>
                <a:latin typeface="Roboto"/>
                <a:cs typeface="Roboto"/>
              </a:rPr>
              <a:t>package</a:t>
            </a:r>
            <a:r>
              <a:rPr sz="1000" spc="45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1000" spc="-45" dirty="0">
                <a:solidFill>
                  <a:srgbClr val="94A3B8"/>
                </a:solidFill>
                <a:latin typeface="Roboto"/>
                <a:cs typeface="Roboto"/>
              </a:rPr>
              <a:t>(single-</a:t>
            </a:r>
            <a:r>
              <a:rPr sz="1000" spc="-140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94A3B8"/>
                </a:solidFill>
                <a:latin typeface="Roboto"/>
                <a:cs typeface="Roboto"/>
              </a:rPr>
              <a:t>ﬁle)</a:t>
            </a:r>
            <a:r>
              <a:rPr sz="1000" dirty="0">
                <a:solidFill>
                  <a:srgbClr val="94A3B8"/>
                </a:solidFill>
                <a:latin typeface="Roboto"/>
                <a:cs typeface="Roboto"/>
              </a:rPr>
              <a:t>	future:</a:t>
            </a:r>
            <a:r>
              <a:rPr sz="1000" spc="70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49E0B"/>
                </a:solidFill>
                <a:latin typeface="Roboto"/>
                <a:cs typeface="Roboto"/>
              </a:rPr>
              <a:t>model</a:t>
            </a:r>
            <a:r>
              <a:rPr sz="1000" spc="85" dirty="0">
                <a:solidFill>
                  <a:srgbClr val="F49E0B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94A3B8"/>
                </a:solidFill>
                <a:latin typeface="Roboto"/>
                <a:cs typeface="Roboto"/>
              </a:rPr>
              <a:t>/</a:t>
            </a:r>
            <a:r>
              <a:rPr sz="1000" spc="30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F49E0B"/>
                </a:solidFill>
                <a:latin typeface="Roboto"/>
                <a:cs typeface="Roboto"/>
              </a:rPr>
              <a:t>service</a:t>
            </a:r>
            <a:r>
              <a:rPr sz="1000" spc="80" dirty="0">
                <a:solidFill>
                  <a:srgbClr val="F49E0B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94A3B8"/>
                </a:solidFill>
                <a:latin typeface="Roboto"/>
                <a:cs typeface="Roboto"/>
              </a:rPr>
              <a:t>/</a:t>
            </a:r>
            <a:r>
              <a:rPr sz="1000" spc="25" dirty="0">
                <a:solidFill>
                  <a:srgbClr val="94A3B8"/>
                </a:solidFill>
                <a:latin typeface="Roboto"/>
                <a:cs typeface="Roboto"/>
              </a:rPr>
              <a:t> </a:t>
            </a:r>
            <a:r>
              <a:rPr sz="1000" spc="-25" dirty="0">
                <a:solidFill>
                  <a:srgbClr val="F49E0B"/>
                </a:solidFill>
                <a:latin typeface="Roboto"/>
                <a:cs typeface="Roboto"/>
              </a:rPr>
              <a:t>app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161925"/>
            <a:ext cx="457200" cy="457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OOP</a:t>
            </a:r>
            <a:r>
              <a:rPr spc="-20" dirty="0"/>
              <a:t> </a:t>
            </a:r>
            <a:r>
              <a:rPr dirty="0"/>
              <a:t>Concepts</a:t>
            </a:r>
            <a:r>
              <a:rPr spc="-20" dirty="0"/>
              <a:t> 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93125" y="307492"/>
            <a:ext cx="373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Slide </a:t>
            </a:r>
            <a:r>
              <a:rPr sz="900" spc="-50" dirty="0">
                <a:solidFill>
                  <a:srgbClr val="94A3B8"/>
                </a:solidFill>
                <a:latin typeface="Roboto"/>
                <a:cs typeface="Roboto"/>
              </a:rPr>
              <a:t>3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1937" y="947737"/>
            <a:ext cx="4162425" cy="1924050"/>
            <a:chOff x="261937" y="947737"/>
            <a:chExt cx="4162425" cy="1924050"/>
          </a:xfrm>
        </p:grpSpPr>
        <p:sp>
          <p:nvSpPr>
            <p:cNvPr id="6" name="object 6"/>
            <p:cNvSpPr/>
            <p:nvPr/>
          </p:nvSpPr>
          <p:spPr>
            <a:xfrm>
              <a:off x="266700" y="1009650"/>
              <a:ext cx="4152900" cy="1857375"/>
            </a:xfrm>
            <a:custGeom>
              <a:avLst/>
              <a:gdLst/>
              <a:ahLst/>
              <a:cxnLst/>
              <a:rect l="l" t="t" r="r" b="b"/>
              <a:pathLst>
                <a:path w="4152900" h="1857375">
                  <a:moveTo>
                    <a:pt x="0" y="1857375"/>
                  </a:moveTo>
                  <a:lnTo>
                    <a:pt x="4152900" y="1857375"/>
                  </a:lnTo>
                  <a:lnTo>
                    <a:pt x="41529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solidFill>
              <a:srgbClr val="2D2D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700" y="952500"/>
              <a:ext cx="4152900" cy="1914525"/>
            </a:xfrm>
            <a:custGeom>
              <a:avLst/>
              <a:gdLst/>
              <a:ahLst/>
              <a:cxnLst/>
              <a:rect l="l" t="t" r="r" b="b"/>
              <a:pathLst>
                <a:path w="4152900" h="1914525">
                  <a:moveTo>
                    <a:pt x="0" y="0"/>
                  </a:moveTo>
                  <a:lnTo>
                    <a:pt x="4152900" y="0"/>
                  </a:lnTo>
                  <a:lnTo>
                    <a:pt x="4152900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D2D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700" y="9525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4152900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4152900" y="0"/>
                  </a:lnTo>
                  <a:lnTo>
                    <a:pt x="4152900" y="5715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00" y="9525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0" y="0"/>
                  </a:moveTo>
                  <a:lnTo>
                    <a:pt x="4152900" y="0"/>
                  </a:lnTo>
                  <a:lnTo>
                    <a:pt x="4152900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150" y="14287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1326140" y="200025"/>
                  </a:moveTo>
                  <a:lnTo>
                    <a:pt x="45459" y="200025"/>
                  </a:lnTo>
                  <a:lnTo>
                    <a:pt x="36389" y="199192"/>
                  </a:lnTo>
                  <a:lnTo>
                    <a:pt x="3328" y="172016"/>
                  </a:lnTo>
                  <a:lnTo>
                    <a:pt x="0" y="154565"/>
                  </a:lnTo>
                  <a:lnTo>
                    <a:pt x="0" y="45459"/>
                  </a:lnTo>
                  <a:lnTo>
                    <a:pt x="20317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10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close/>
                </a:path>
              </a:pathLst>
            </a:custGeom>
            <a:solidFill>
              <a:srgbClr val="0D9488">
                <a:alpha val="2470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" y="14287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10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10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1462" y="1115085"/>
            <a:ext cx="414337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Roboto"/>
                <a:cs typeface="Roboto"/>
              </a:rPr>
              <a:t>Abstraction</a:t>
            </a:r>
            <a:endParaRPr sz="1400">
              <a:latin typeface="Roboto"/>
              <a:cs typeface="Roboto"/>
            </a:endParaRPr>
          </a:p>
          <a:p>
            <a:pPr marL="194945">
              <a:lnSpc>
                <a:spcPct val="100000"/>
              </a:lnSpc>
              <a:spcBef>
                <a:spcPts val="890"/>
              </a:spcBef>
            </a:pPr>
            <a:r>
              <a:rPr sz="800" spc="-10" dirty="0">
                <a:solidFill>
                  <a:srgbClr val="FFFFFF"/>
                </a:solidFill>
                <a:latin typeface="Roboto"/>
                <a:cs typeface="Roboto"/>
              </a:rPr>
              <a:t>Person</a:t>
            </a:r>
            <a:r>
              <a:rPr sz="8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Roboto"/>
                <a:cs typeface="Roboto"/>
              </a:rPr>
              <a:t>class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800">
              <a:latin typeface="Roboto"/>
              <a:cs typeface="Roboto"/>
            </a:endParaRPr>
          </a:p>
          <a:p>
            <a:pPr marL="166370" marR="298450">
              <a:lnSpc>
                <a:spcPct val="106300"/>
              </a:lnSpc>
            </a:pP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display()</a:t>
            </a:r>
            <a:r>
              <a:rPr sz="1000" spc="-1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declared</a:t>
            </a:r>
            <a:r>
              <a:rPr sz="1000" spc="7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abstract</a:t>
            </a:r>
            <a:r>
              <a:rPr sz="1000" spc="7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—</a:t>
            </a:r>
            <a:r>
              <a:rPr sz="1000" spc="2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no</a:t>
            </a:r>
            <a:r>
              <a:rPr sz="1000" spc="6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body.</a:t>
            </a:r>
            <a:r>
              <a:rPr sz="1000" spc="-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Forces</a:t>
            </a:r>
            <a:r>
              <a:rPr sz="1000" spc="-2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every</a:t>
            </a:r>
            <a:r>
              <a:rPr sz="1000" spc="8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25" dirty="0">
                <a:solidFill>
                  <a:srgbClr val="CBD4E1"/>
                </a:solidFill>
                <a:latin typeface="Roboto"/>
                <a:cs typeface="Roboto"/>
              </a:rPr>
              <a:t>subclass to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implement</a:t>
            </a:r>
            <a:r>
              <a:rPr sz="1000" spc="10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its</a:t>
            </a:r>
            <a:r>
              <a:rPr sz="1000" spc="-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own</a:t>
            </a:r>
            <a:r>
              <a:rPr sz="1000" spc="10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version.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150" y="2324100"/>
            <a:ext cx="3838575" cy="400050"/>
          </a:xfrm>
          <a:prstGeom prst="rect">
            <a:avLst/>
          </a:prstGeom>
          <a:solidFill>
            <a:srgbClr val="1B1B2E"/>
          </a:solidFill>
          <a:ln w="9525">
            <a:solidFill>
              <a:srgbClr val="334155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869"/>
              </a:spcBef>
            </a:pP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abstract</a:t>
            </a:r>
            <a:r>
              <a:rPr sz="900" spc="3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void </a:t>
            </a:r>
            <a:r>
              <a:rPr sz="900" spc="-10" dirty="0">
                <a:solidFill>
                  <a:srgbClr val="14B8A6"/>
                </a:solidFill>
                <a:latin typeface="Roboto"/>
                <a:cs typeface="Roboto"/>
              </a:rPr>
              <a:t>display();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00587" y="947737"/>
            <a:ext cx="4162425" cy="1924050"/>
            <a:chOff x="4700587" y="947737"/>
            <a:chExt cx="4162425" cy="1924050"/>
          </a:xfrm>
        </p:grpSpPr>
        <p:sp>
          <p:nvSpPr>
            <p:cNvPr id="15" name="object 15"/>
            <p:cNvSpPr/>
            <p:nvPr/>
          </p:nvSpPr>
          <p:spPr>
            <a:xfrm>
              <a:off x="4705350" y="1009650"/>
              <a:ext cx="4152900" cy="1857375"/>
            </a:xfrm>
            <a:custGeom>
              <a:avLst/>
              <a:gdLst/>
              <a:ahLst/>
              <a:cxnLst/>
              <a:rect l="l" t="t" r="r" b="b"/>
              <a:pathLst>
                <a:path w="4152900" h="1857375">
                  <a:moveTo>
                    <a:pt x="0" y="1857375"/>
                  </a:moveTo>
                  <a:lnTo>
                    <a:pt x="4152900" y="1857375"/>
                  </a:lnTo>
                  <a:lnTo>
                    <a:pt x="41529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solidFill>
              <a:srgbClr val="2D2D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05350" y="952500"/>
              <a:ext cx="4152900" cy="1914525"/>
            </a:xfrm>
            <a:custGeom>
              <a:avLst/>
              <a:gdLst/>
              <a:ahLst/>
              <a:cxnLst/>
              <a:rect l="l" t="t" r="r" b="b"/>
              <a:pathLst>
                <a:path w="4152900" h="1914525">
                  <a:moveTo>
                    <a:pt x="0" y="0"/>
                  </a:moveTo>
                  <a:lnTo>
                    <a:pt x="4152900" y="0"/>
                  </a:lnTo>
                  <a:lnTo>
                    <a:pt x="4152900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D2D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05350" y="9525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4152900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4152900" y="0"/>
                  </a:lnTo>
                  <a:lnTo>
                    <a:pt x="4152900" y="57150"/>
                  </a:lnTo>
                  <a:close/>
                </a:path>
              </a:pathLst>
            </a:custGeom>
            <a:solidFill>
              <a:srgbClr val="8B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5350" y="9525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0" y="0"/>
                  </a:moveTo>
                  <a:lnTo>
                    <a:pt x="4152900" y="0"/>
                  </a:lnTo>
                  <a:lnTo>
                    <a:pt x="4152900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8B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7275" y="14287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1326140" y="200025"/>
                  </a:moveTo>
                  <a:lnTo>
                    <a:pt x="45459" y="200025"/>
                  </a:lnTo>
                  <a:lnTo>
                    <a:pt x="36389" y="199192"/>
                  </a:lnTo>
                  <a:lnTo>
                    <a:pt x="3328" y="172016"/>
                  </a:lnTo>
                  <a:lnTo>
                    <a:pt x="0" y="154565"/>
                  </a:lnTo>
                  <a:lnTo>
                    <a:pt x="0" y="45459"/>
                  </a:ln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09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close/>
                </a:path>
              </a:pathLst>
            </a:custGeom>
            <a:solidFill>
              <a:srgbClr val="8B5CF6">
                <a:alpha val="2470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67275" y="14287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09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09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</a:pathLst>
            </a:custGeom>
            <a:ln w="9525">
              <a:solidFill>
                <a:srgbClr val="8B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10112" y="1115085"/>
            <a:ext cx="414337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Roboto"/>
                <a:cs typeface="Roboto"/>
              </a:rPr>
              <a:t>Inheritance</a:t>
            </a:r>
            <a:endParaRPr sz="1400">
              <a:latin typeface="Roboto"/>
              <a:cs typeface="Roboto"/>
            </a:endParaRPr>
          </a:p>
          <a:p>
            <a:pPr marL="194945">
              <a:lnSpc>
                <a:spcPct val="100000"/>
              </a:lnSpc>
              <a:spcBef>
                <a:spcPts val="890"/>
              </a:spcBef>
            </a:pPr>
            <a:r>
              <a:rPr sz="800" dirty="0">
                <a:solidFill>
                  <a:srgbClr val="FFFFFF"/>
                </a:solidFill>
                <a:latin typeface="Roboto"/>
                <a:cs typeface="Roboto"/>
              </a:rPr>
              <a:t>Student</a:t>
            </a:r>
            <a:r>
              <a:rPr sz="800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800" dirty="0">
                <a:solidFill>
                  <a:srgbClr val="FFFFFF"/>
                </a:solidFill>
                <a:latin typeface="Roboto"/>
                <a:cs typeface="Roboto"/>
              </a:rPr>
              <a:t>extends</a:t>
            </a:r>
            <a:r>
              <a:rPr sz="8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Roboto"/>
                <a:cs typeface="Roboto"/>
              </a:rPr>
              <a:t>Person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800">
              <a:latin typeface="Roboto"/>
              <a:cs typeface="Roboto"/>
            </a:endParaRPr>
          </a:p>
          <a:p>
            <a:pPr marL="156845" marR="364490">
              <a:lnSpc>
                <a:spcPct val="106300"/>
              </a:lnSpc>
            </a:pP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Student</a:t>
            </a:r>
            <a:r>
              <a:rPr sz="1000" spc="10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inherits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name,</a:t>
            </a:r>
            <a:r>
              <a:rPr sz="1000" spc="9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Roboto"/>
                <a:cs typeface="Roboto"/>
              </a:rPr>
              <a:t>calls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super(name)</a:t>
            </a:r>
            <a:r>
              <a:rPr sz="1000" spc="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in</a:t>
            </a:r>
            <a:r>
              <a:rPr sz="1000" spc="10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its</a:t>
            </a:r>
            <a:r>
              <a:rPr sz="1000" spc="-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constructor.</a:t>
            </a:r>
            <a:r>
              <a:rPr sz="1000" spc="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25" dirty="0">
                <a:solidFill>
                  <a:srgbClr val="CBD4E1"/>
                </a:solidFill>
                <a:latin typeface="Roboto"/>
                <a:cs typeface="Roboto"/>
              </a:rPr>
              <a:t>No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ﬁeld</a:t>
            </a:r>
            <a:r>
              <a:rPr sz="1000" spc="5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duplication.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7275" y="2324100"/>
            <a:ext cx="3838575" cy="400050"/>
          </a:xfrm>
          <a:prstGeom prst="rect">
            <a:avLst/>
          </a:prstGeom>
          <a:solidFill>
            <a:srgbClr val="1B1B2E"/>
          </a:solidFill>
          <a:ln w="9525">
            <a:solidFill>
              <a:srgbClr val="334155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869"/>
              </a:spcBef>
            </a:pPr>
            <a:r>
              <a:rPr sz="900" spc="-35" dirty="0">
                <a:solidFill>
                  <a:srgbClr val="14B8A6"/>
                </a:solidFill>
                <a:latin typeface="Roboto"/>
                <a:cs typeface="Roboto"/>
              </a:rPr>
              <a:t>class</a:t>
            </a:r>
            <a:r>
              <a:rPr sz="900" spc="-5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Student</a:t>
            </a:r>
            <a:r>
              <a:rPr sz="900" spc="105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extends </a:t>
            </a:r>
            <a:r>
              <a:rPr sz="900" spc="-10" dirty="0">
                <a:solidFill>
                  <a:srgbClr val="14B8A6"/>
                </a:solidFill>
                <a:latin typeface="Roboto"/>
                <a:cs typeface="Roboto"/>
              </a:rPr>
              <a:t>Person</a:t>
            </a:r>
            <a:r>
              <a:rPr sz="900" spc="7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{</a:t>
            </a:r>
            <a:r>
              <a:rPr sz="900" spc="4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14B8A6"/>
                </a:solidFill>
                <a:latin typeface="Roboto"/>
                <a:cs typeface="Roboto"/>
              </a:rPr>
              <a:t>...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14B8A6"/>
                </a:solidFill>
                <a:latin typeface="Roboto"/>
                <a:cs typeface="Roboto"/>
              </a:rPr>
              <a:t>}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1937" y="3005137"/>
            <a:ext cx="4162425" cy="1924050"/>
            <a:chOff x="261937" y="3005137"/>
            <a:chExt cx="4162425" cy="1924050"/>
          </a:xfrm>
        </p:grpSpPr>
        <p:sp>
          <p:nvSpPr>
            <p:cNvPr id="24" name="object 24"/>
            <p:cNvSpPr/>
            <p:nvPr/>
          </p:nvSpPr>
          <p:spPr>
            <a:xfrm>
              <a:off x="266700" y="3067050"/>
              <a:ext cx="4152900" cy="1857375"/>
            </a:xfrm>
            <a:custGeom>
              <a:avLst/>
              <a:gdLst/>
              <a:ahLst/>
              <a:cxnLst/>
              <a:rect l="l" t="t" r="r" b="b"/>
              <a:pathLst>
                <a:path w="4152900" h="1857375">
                  <a:moveTo>
                    <a:pt x="0" y="1857375"/>
                  </a:moveTo>
                  <a:lnTo>
                    <a:pt x="4152900" y="1857375"/>
                  </a:lnTo>
                  <a:lnTo>
                    <a:pt x="41529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solidFill>
              <a:srgbClr val="2D2D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6700" y="3009900"/>
              <a:ext cx="4152900" cy="1914525"/>
            </a:xfrm>
            <a:custGeom>
              <a:avLst/>
              <a:gdLst/>
              <a:ahLst/>
              <a:cxnLst/>
              <a:rect l="l" t="t" r="r" b="b"/>
              <a:pathLst>
                <a:path w="4152900" h="1914525">
                  <a:moveTo>
                    <a:pt x="0" y="0"/>
                  </a:moveTo>
                  <a:lnTo>
                    <a:pt x="4152900" y="0"/>
                  </a:lnTo>
                  <a:lnTo>
                    <a:pt x="4152900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D2D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6700" y="30099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4152900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4152900" y="0"/>
                  </a:lnTo>
                  <a:lnTo>
                    <a:pt x="4152900" y="57150"/>
                  </a:lnTo>
                  <a:close/>
                </a:path>
              </a:pathLst>
            </a:custGeom>
            <a:solidFill>
              <a:srgbClr val="F49E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6700" y="30099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0" y="0"/>
                  </a:moveTo>
                  <a:lnTo>
                    <a:pt x="4152900" y="0"/>
                  </a:lnTo>
                  <a:lnTo>
                    <a:pt x="4152900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49E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150" y="34861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1326140" y="200025"/>
                  </a:moveTo>
                  <a:lnTo>
                    <a:pt x="45459" y="200025"/>
                  </a:lnTo>
                  <a:lnTo>
                    <a:pt x="36389" y="199192"/>
                  </a:lnTo>
                  <a:lnTo>
                    <a:pt x="3328" y="172016"/>
                  </a:lnTo>
                  <a:lnTo>
                    <a:pt x="0" y="154565"/>
                  </a:lnTo>
                  <a:lnTo>
                    <a:pt x="0" y="45459"/>
                  </a:ln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10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close/>
                </a:path>
              </a:pathLst>
            </a:custGeom>
            <a:solidFill>
              <a:srgbClr val="F49E0B">
                <a:alpha val="2470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150" y="34861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10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10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</a:pathLst>
            </a:custGeom>
            <a:ln w="9525">
              <a:solidFill>
                <a:srgbClr val="F49E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1462" y="3172485"/>
            <a:ext cx="414337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Roboto"/>
                <a:cs typeface="Roboto"/>
              </a:rPr>
              <a:t>Polymorphism</a:t>
            </a:r>
            <a:endParaRPr sz="1400">
              <a:latin typeface="Roboto"/>
              <a:cs typeface="Roboto"/>
            </a:endParaRPr>
          </a:p>
          <a:p>
            <a:pPr marL="194945">
              <a:lnSpc>
                <a:spcPct val="100000"/>
              </a:lnSpc>
              <a:spcBef>
                <a:spcPts val="890"/>
              </a:spcBef>
            </a:pPr>
            <a:r>
              <a:rPr sz="800" spc="-35" dirty="0">
                <a:solidFill>
                  <a:srgbClr val="FFFFFF"/>
                </a:solidFill>
                <a:latin typeface="Roboto"/>
                <a:cs typeface="Roboto"/>
              </a:rPr>
              <a:t>s.display()</a:t>
            </a:r>
            <a:r>
              <a:rPr sz="8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800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sz="800" spc="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Roboto"/>
                <a:cs typeface="Roboto"/>
              </a:rPr>
              <a:t>issueBook()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800">
              <a:latin typeface="Roboto"/>
              <a:cs typeface="Roboto"/>
            </a:endParaRPr>
          </a:p>
          <a:p>
            <a:pPr marL="166370" marR="379730">
              <a:lnSpc>
                <a:spcPct val="106300"/>
              </a:lnSpc>
            </a:pP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Called</a:t>
            </a:r>
            <a:r>
              <a:rPr sz="1000" spc="8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on</a:t>
            </a:r>
            <a:r>
              <a:rPr sz="1000" spc="9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a</a:t>
            </a:r>
            <a:r>
              <a:rPr sz="1000" spc="2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Student</a:t>
            </a:r>
            <a:r>
              <a:rPr sz="1000" spc="9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reference</a:t>
            </a:r>
            <a:r>
              <a:rPr sz="1000" spc="4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—</a:t>
            </a:r>
            <a:r>
              <a:rPr sz="1000" spc="23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Roboto"/>
                <a:cs typeface="Roboto"/>
              </a:rPr>
              <a:t>Java</a:t>
            </a:r>
            <a:r>
              <a:rPr sz="1000" spc="3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dispatches</a:t>
            </a:r>
            <a:r>
              <a:rPr sz="1000" spc="-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to</a:t>
            </a:r>
            <a:r>
              <a:rPr sz="1000" spc="7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Student's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override</a:t>
            </a:r>
            <a:r>
              <a:rPr sz="1000" spc="3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at</a:t>
            </a:r>
            <a:r>
              <a:rPr sz="1000" spc="8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runtime.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8150" y="4381500"/>
            <a:ext cx="3838575" cy="400050"/>
          </a:xfrm>
          <a:prstGeom prst="rect">
            <a:avLst/>
          </a:prstGeom>
          <a:solidFill>
            <a:srgbClr val="1B1B2E"/>
          </a:solidFill>
          <a:ln w="9525">
            <a:solidFill>
              <a:srgbClr val="334155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869"/>
              </a:spcBef>
            </a:pPr>
            <a:r>
              <a:rPr sz="900" spc="-10" dirty="0">
                <a:solidFill>
                  <a:srgbClr val="14B8A6"/>
                </a:solidFill>
                <a:latin typeface="Roboto"/>
                <a:cs typeface="Roboto"/>
              </a:rPr>
              <a:t>s.display();</a:t>
            </a:r>
            <a:r>
              <a:rPr sz="900" spc="24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//</a:t>
            </a:r>
            <a:r>
              <a:rPr sz="900" spc="225" dirty="0">
                <a:solidFill>
                  <a:srgbClr val="14B8A6"/>
                </a:solidFill>
                <a:latin typeface="Roboto"/>
                <a:cs typeface="Roboto"/>
              </a:rPr>
              <a:t> 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Student</a:t>
            </a:r>
            <a:r>
              <a:rPr sz="900" spc="7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4B8A6"/>
                </a:solidFill>
                <a:latin typeface="Roboto"/>
                <a:cs typeface="Roboto"/>
              </a:rPr>
              <a:t>override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700587" y="3005137"/>
            <a:ext cx="4162425" cy="1924050"/>
            <a:chOff x="4700587" y="3005137"/>
            <a:chExt cx="4162425" cy="1924050"/>
          </a:xfrm>
        </p:grpSpPr>
        <p:sp>
          <p:nvSpPr>
            <p:cNvPr id="33" name="object 33"/>
            <p:cNvSpPr/>
            <p:nvPr/>
          </p:nvSpPr>
          <p:spPr>
            <a:xfrm>
              <a:off x="4705350" y="3067050"/>
              <a:ext cx="4152900" cy="1857375"/>
            </a:xfrm>
            <a:custGeom>
              <a:avLst/>
              <a:gdLst/>
              <a:ahLst/>
              <a:cxnLst/>
              <a:rect l="l" t="t" r="r" b="b"/>
              <a:pathLst>
                <a:path w="4152900" h="1857375">
                  <a:moveTo>
                    <a:pt x="0" y="1857375"/>
                  </a:moveTo>
                  <a:lnTo>
                    <a:pt x="4152900" y="1857375"/>
                  </a:lnTo>
                  <a:lnTo>
                    <a:pt x="41529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solidFill>
              <a:srgbClr val="2D2D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05350" y="3009900"/>
              <a:ext cx="4152900" cy="1914525"/>
            </a:xfrm>
            <a:custGeom>
              <a:avLst/>
              <a:gdLst/>
              <a:ahLst/>
              <a:cxnLst/>
              <a:rect l="l" t="t" r="r" b="b"/>
              <a:pathLst>
                <a:path w="4152900" h="1914525">
                  <a:moveTo>
                    <a:pt x="0" y="0"/>
                  </a:moveTo>
                  <a:lnTo>
                    <a:pt x="4152900" y="0"/>
                  </a:lnTo>
                  <a:lnTo>
                    <a:pt x="4152900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D2D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05350" y="30099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4152900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4152900" y="0"/>
                  </a:lnTo>
                  <a:lnTo>
                    <a:pt x="4152900" y="5715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05350" y="3009900"/>
              <a:ext cx="4152900" cy="57150"/>
            </a:xfrm>
            <a:custGeom>
              <a:avLst/>
              <a:gdLst/>
              <a:ahLst/>
              <a:cxnLst/>
              <a:rect l="l" t="t" r="r" b="b"/>
              <a:pathLst>
                <a:path w="4152900" h="57150">
                  <a:moveTo>
                    <a:pt x="0" y="0"/>
                  </a:moveTo>
                  <a:lnTo>
                    <a:pt x="4152900" y="0"/>
                  </a:lnTo>
                  <a:lnTo>
                    <a:pt x="4152900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67275" y="34861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1326140" y="200025"/>
                  </a:moveTo>
                  <a:lnTo>
                    <a:pt x="45459" y="200025"/>
                  </a:lnTo>
                  <a:lnTo>
                    <a:pt x="36389" y="199192"/>
                  </a:lnTo>
                  <a:lnTo>
                    <a:pt x="3328" y="172016"/>
                  </a:lnTo>
                  <a:lnTo>
                    <a:pt x="0" y="154565"/>
                  </a:lnTo>
                  <a:lnTo>
                    <a:pt x="0" y="45459"/>
                  </a:ln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09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close/>
                </a:path>
              </a:pathLst>
            </a:custGeom>
            <a:solidFill>
              <a:srgbClr val="EE4444">
                <a:alpha val="2470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67275" y="3486150"/>
              <a:ext cx="1371600" cy="200025"/>
            </a:xfrm>
            <a:custGeom>
              <a:avLst/>
              <a:gdLst/>
              <a:ahLst/>
              <a:cxnLst/>
              <a:rect l="l" t="t" r="r" b="b"/>
              <a:pathLst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09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  <a:path w="1371600" h="200025">
                  <a:moveTo>
                    <a:pt x="0" y="45459"/>
                  </a:moveTo>
                  <a:lnTo>
                    <a:pt x="20316" y="7489"/>
                  </a:lnTo>
                  <a:lnTo>
                    <a:pt x="45459" y="0"/>
                  </a:lnTo>
                  <a:lnTo>
                    <a:pt x="1326140" y="0"/>
                  </a:lnTo>
                  <a:lnTo>
                    <a:pt x="1364109" y="20316"/>
                  </a:lnTo>
                  <a:lnTo>
                    <a:pt x="1371600" y="45459"/>
                  </a:lnTo>
                  <a:lnTo>
                    <a:pt x="1371600" y="154565"/>
                  </a:lnTo>
                  <a:lnTo>
                    <a:pt x="1351282" y="192535"/>
                  </a:lnTo>
                  <a:lnTo>
                    <a:pt x="1326140" y="200025"/>
                  </a:lnTo>
                  <a:lnTo>
                    <a:pt x="45459" y="200025"/>
                  </a:lnTo>
                  <a:lnTo>
                    <a:pt x="7489" y="179708"/>
                  </a:lnTo>
                  <a:lnTo>
                    <a:pt x="0" y="154565"/>
                  </a:lnTo>
                  <a:lnTo>
                    <a:pt x="0" y="45459"/>
                  </a:lnTo>
                  <a:close/>
                </a:path>
              </a:pathLst>
            </a:custGeom>
            <a:ln w="9525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710112" y="3172485"/>
            <a:ext cx="414337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Roboto"/>
                <a:cs typeface="Roboto"/>
              </a:rPr>
              <a:t>Exception</a:t>
            </a:r>
            <a:r>
              <a:rPr sz="14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Roboto"/>
                <a:cs typeface="Roboto"/>
              </a:rPr>
              <a:t>Handling</a:t>
            </a:r>
            <a:endParaRPr sz="1400">
              <a:latin typeface="Roboto"/>
              <a:cs typeface="Roboto"/>
            </a:endParaRPr>
          </a:p>
          <a:p>
            <a:pPr marL="194945">
              <a:lnSpc>
                <a:spcPct val="100000"/>
              </a:lnSpc>
              <a:spcBef>
                <a:spcPts val="890"/>
              </a:spcBef>
            </a:pPr>
            <a:r>
              <a:rPr sz="800" dirty="0">
                <a:solidFill>
                  <a:srgbClr val="FFFFFF"/>
                </a:solidFill>
                <a:latin typeface="Roboto"/>
                <a:cs typeface="Roboto"/>
              </a:rPr>
              <a:t>Every</a:t>
            </a:r>
            <a:r>
              <a:rPr sz="800" spc="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800" dirty="0">
                <a:solidFill>
                  <a:srgbClr val="FFFFFF"/>
                </a:solidFill>
                <a:latin typeface="Roboto"/>
                <a:cs typeface="Roboto"/>
              </a:rPr>
              <a:t>input</a:t>
            </a:r>
            <a:r>
              <a:rPr sz="800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Roboto"/>
                <a:cs typeface="Roboto"/>
              </a:rPr>
              <a:t>point</a:t>
            </a:r>
            <a:endParaRPr sz="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800">
              <a:latin typeface="Roboto"/>
              <a:cs typeface="Roboto"/>
            </a:endParaRPr>
          </a:p>
          <a:p>
            <a:pPr marL="156845" marR="655955">
              <a:lnSpc>
                <a:spcPct val="106300"/>
              </a:lnSpc>
            </a:pPr>
            <a:r>
              <a:rPr sz="1000" spc="-35" dirty="0">
                <a:solidFill>
                  <a:srgbClr val="CBD4E1"/>
                </a:solidFill>
                <a:latin typeface="Roboto"/>
                <a:cs typeface="Roboto"/>
              </a:rPr>
              <a:t>try-</a:t>
            </a:r>
            <a:r>
              <a:rPr sz="1000" spc="-14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catch</a:t>
            </a:r>
            <a:r>
              <a:rPr sz="1000" spc="9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wraps</a:t>
            </a:r>
            <a:r>
              <a:rPr sz="1000" spc="-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nextInt().</a:t>
            </a:r>
            <a:r>
              <a:rPr sz="1000" spc="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sc.nextLine()</a:t>
            </a:r>
            <a:r>
              <a:rPr sz="1000" spc="-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ﬂushes</a:t>
            </a:r>
            <a:r>
              <a:rPr sz="1000" spc="-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bad</a:t>
            </a:r>
            <a:r>
              <a:rPr sz="1000" spc="8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BD4E1"/>
                </a:solidFill>
                <a:latin typeface="Roboto"/>
                <a:cs typeface="Roboto"/>
              </a:rPr>
              <a:t>token;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choice=0</a:t>
            </a:r>
            <a:r>
              <a:rPr sz="1000" spc="16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prevents</a:t>
            </a:r>
            <a:r>
              <a:rPr sz="1000" spc="-1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CBD4E1"/>
                </a:solidFill>
                <a:latin typeface="Roboto"/>
                <a:cs typeface="Roboto"/>
              </a:rPr>
              <a:t>accidental</a:t>
            </a:r>
            <a:r>
              <a:rPr sz="1000" spc="3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CBD4E1"/>
                </a:solidFill>
                <a:latin typeface="Roboto"/>
                <a:cs typeface="Roboto"/>
              </a:rPr>
              <a:t>exit.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67275" y="4381500"/>
            <a:ext cx="3838575" cy="400050"/>
          </a:xfrm>
          <a:prstGeom prst="rect">
            <a:avLst/>
          </a:prstGeom>
          <a:solidFill>
            <a:srgbClr val="1B1B2E"/>
          </a:solidFill>
          <a:ln w="9525">
            <a:solidFill>
              <a:srgbClr val="334155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869"/>
              </a:spcBef>
            </a:pP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catch(Exception</a:t>
            </a:r>
            <a:r>
              <a:rPr sz="900" spc="6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e){</a:t>
            </a:r>
            <a:r>
              <a:rPr sz="900" spc="3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sc.nextLine();</a:t>
            </a:r>
            <a:r>
              <a:rPr sz="900" spc="4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14B8A6"/>
                </a:solidFill>
                <a:latin typeface="Roboto"/>
                <a:cs typeface="Roboto"/>
              </a:rPr>
              <a:t>choice=0</a:t>
            </a:r>
            <a:r>
              <a:rPr sz="900" spc="-135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;</a:t>
            </a:r>
            <a:r>
              <a:rPr sz="900" spc="4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14B8A6"/>
                </a:solidFill>
                <a:latin typeface="Roboto"/>
                <a:cs typeface="Roboto"/>
              </a:rPr>
              <a:t>}</a:t>
            </a:r>
            <a:endParaRPr sz="9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Technical</a:t>
            </a:r>
            <a:r>
              <a:rPr spc="-25" dirty="0"/>
              <a:t> </a:t>
            </a:r>
            <a:r>
              <a:rPr spc="-10" dirty="0"/>
              <a:t>Highlight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3600" y="307492"/>
            <a:ext cx="373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Slide </a:t>
            </a:r>
            <a:r>
              <a:rPr sz="900" spc="-50" dirty="0">
                <a:solidFill>
                  <a:srgbClr val="94A3B8"/>
                </a:solidFill>
                <a:latin typeface="Roboto"/>
                <a:cs typeface="Roboto"/>
              </a:rPr>
              <a:t>4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250" y="991260"/>
            <a:ext cx="45110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1B1B2E"/>
                </a:solidFill>
                <a:latin typeface="Roboto"/>
                <a:cs typeface="Roboto"/>
              </a:rPr>
              <a:t>Design</a:t>
            </a:r>
            <a:r>
              <a:rPr sz="1400" spc="-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400" spc="-35" dirty="0">
                <a:solidFill>
                  <a:srgbClr val="1B1B2E"/>
                </a:solidFill>
                <a:latin typeface="Roboto"/>
                <a:cs typeface="Roboto"/>
              </a:rPr>
              <a:t>Decision:</a:t>
            </a:r>
            <a:r>
              <a:rPr sz="1400" spc="-5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400" spc="-100" dirty="0">
                <a:solidFill>
                  <a:srgbClr val="1B1B2E"/>
                </a:solidFill>
                <a:latin typeface="Roboto"/>
                <a:cs typeface="Roboto"/>
              </a:rPr>
              <a:t>Two-</a:t>
            </a:r>
            <a:r>
              <a:rPr sz="1400" spc="-210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1B1B2E"/>
                </a:solidFill>
                <a:latin typeface="Roboto"/>
                <a:cs typeface="Roboto"/>
              </a:rPr>
              <a:t>Field</a:t>
            </a:r>
            <a:r>
              <a:rPr sz="1400" spc="10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1B1B2E"/>
                </a:solidFill>
                <a:latin typeface="Roboto"/>
                <a:cs typeface="Roboto"/>
              </a:rPr>
              <a:t>State</a:t>
            </a:r>
            <a:r>
              <a:rPr sz="1400" spc="-20" dirty="0">
                <a:solidFill>
                  <a:srgbClr val="1B1B2E"/>
                </a:solidFill>
                <a:latin typeface="Roboto"/>
                <a:cs typeface="Roboto"/>
              </a:rPr>
              <a:t> Model</a:t>
            </a:r>
            <a:r>
              <a:rPr sz="1400" spc="-60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1B1B2E"/>
                </a:solidFill>
                <a:latin typeface="Roboto"/>
                <a:cs typeface="Roboto"/>
              </a:rPr>
              <a:t>for</a:t>
            </a:r>
            <a:r>
              <a:rPr sz="1400" spc="-4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1B1B2E"/>
                </a:solidFill>
                <a:latin typeface="Roboto"/>
                <a:cs typeface="Roboto"/>
              </a:rPr>
              <a:t>Book</a:t>
            </a:r>
            <a:r>
              <a:rPr sz="1400" spc="10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1B1B2E"/>
                </a:solidFill>
                <a:latin typeface="Roboto"/>
                <a:cs typeface="Roboto"/>
              </a:rPr>
              <a:t>Records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700" y="1409700"/>
            <a:ext cx="4752975" cy="3238500"/>
          </a:xfrm>
          <a:prstGeom prst="rect">
            <a:avLst/>
          </a:prstGeom>
          <a:solidFill>
            <a:srgbClr val="1B1B2E"/>
          </a:solidFill>
          <a:ln w="9525">
            <a:solidFill>
              <a:srgbClr val="334155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019"/>
              </a:spcBef>
            </a:pPr>
            <a:r>
              <a:rPr sz="900" dirty="0">
                <a:solidFill>
                  <a:srgbClr val="0D9488"/>
                </a:solidFill>
                <a:latin typeface="Roboto"/>
                <a:cs typeface="Roboto"/>
              </a:rPr>
              <a:t>issueBook()</a:t>
            </a:r>
            <a:r>
              <a:rPr sz="900" spc="-40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0D9488"/>
                </a:solidFill>
                <a:latin typeface="Roboto"/>
                <a:cs typeface="Roboto"/>
              </a:rPr>
              <a:t>—</a:t>
            </a:r>
            <a:r>
              <a:rPr sz="900" spc="150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0D9488"/>
                </a:solidFill>
                <a:latin typeface="Roboto"/>
                <a:cs typeface="Roboto"/>
              </a:rPr>
              <a:t>core</a:t>
            </a:r>
            <a:r>
              <a:rPr sz="900" spc="15" dirty="0">
                <a:solidFill>
                  <a:srgbClr val="0D9488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0D9488"/>
                </a:solidFill>
                <a:latin typeface="Roboto"/>
                <a:cs typeface="Roboto"/>
              </a:rPr>
              <a:t>logic</a:t>
            </a:r>
            <a:endParaRPr sz="900">
              <a:latin typeface="Roboto"/>
              <a:cs typeface="Roboto"/>
            </a:endParaRPr>
          </a:p>
          <a:p>
            <a:pPr marL="142875" marR="2618740">
              <a:lnSpc>
                <a:spcPct val="159700"/>
              </a:lnSpc>
              <a:spcBef>
                <a:spcPts val="675"/>
              </a:spcBef>
            </a:pP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Student</a:t>
            </a:r>
            <a:r>
              <a:rPr sz="900" spc="1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s</a:t>
            </a:r>
            <a:r>
              <a:rPr sz="900" spc="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sz="900" spc="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new</a:t>
            </a:r>
            <a:r>
              <a:rPr sz="900" spc="1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Student(sid,</a:t>
            </a:r>
            <a:r>
              <a:rPr sz="900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Roboto"/>
                <a:cs typeface="Roboto"/>
              </a:rPr>
              <a:t>sname);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sz="9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(int</a:t>
            </a:r>
            <a:r>
              <a:rPr sz="900" spc="8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900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sz="900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r>
              <a:rPr sz="900" spc="-1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;</a:t>
            </a:r>
            <a:r>
              <a:rPr sz="900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900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&lt;</a:t>
            </a:r>
            <a:r>
              <a:rPr sz="900" spc="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count;</a:t>
            </a:r>
            <a:r>
              <a:rPr sz="900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i++)</a:t>
            </a:r>
            <a:r>
              <a:rPr sz="9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Roboto"/>
                <a:cs typeface="Roboto"/>
              </a:rPr>
              <a:t>{</a:t>
            </a:r>
            <a:endParaRPr sz="900">
              <a:latin typeface="Roboto"/>
              <a:cs typeface="Roboto"/>
            </a:endParaRPr>
          </a:p>
          <a:p>
            <a:pPr marL="200025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if</a:t>
            </a:r>
            <a:r>
              <a:rPr sz="900" spc="9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(books[i].id</a:t>
            </a:r>
            <a:r>
              <a:rPr sz="900" spc="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==</a:t>
            </a:r>
            <a:r>
              <a:rPr sz="900" spc="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id)</a:t>
            </a:r>
            <a:r>
              <a:rPr sz="900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Roboto"/>
                <a:cs typeface="Roboto"/>
              </a:rPr>
              <a:t>{</a:t>
            </a:r>
            <a:endParaRPr sz="900">
              <a:latin typeface="Roboto"/>
              <a:cs typeface="Roboto"/>
            </a:endParaRPr>
          </a:p>
          <a:p>
            <a:pPr marL="314325" marR="3183255" indent="-57150">
              <a:lnSpc>
                <a:spcPct val="159700"/>
              </a:lnSpc>
            </a:pPr>
            <a:r>
              <a:rPr sz="900" dirty="0">
                <a:solidFill>
                  <a:srgbClr val="F49E0B"/>
                </a:solidFill>
                <a:latin typeface="Roboto"/>
                <a:cs typeface="Roboto"/>
              </a:rPr>
              <a:t>if</a:t>
            </a:r>
            <a:r>
              <a:rPr sz="900" spc="95" dirty="0">
                <a:solidFill>
                  <a:srgbClr val="F49E0B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49E0B"/>
                </a:solidFill>
                <a:latin typeface="Roboto"/>
                <a:cs typeface="Roboto"/>
              </a:rPr>
              <a:t>(!books[i].isIssued)</a:t>
            </a:r>
            <a:r>
              <a:rPr sz="900" spc="15" dirty="0">
                <a:solidFill>
                  <a:srgbClr val="F49E0B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F49E0B"/>
                </a:solidFill>
                <a:latin typeface="Roboto"/>
                <a:cs typeface="Roboto"/>
              </a:rPr>
              <a:t>{</a:t>
            </a:r>
            <a:r>
              <a:rPr sz="900" dirty="0">
                <a:solidFill>
                  <a:srgbClr val="F49E0B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books[i].isIssued</a:t>
            </a:r>
            <a:r>
              <a:rPr sz="900" spc="25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=</a:t>
            </a:r>
            <a:r>
              <a:rPr sz="900" spc="45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14B8A6"/>
                </a:solidFill>
                <a:latin typeface="Roboto"/>
                <a:cs typeface="Roboto"/>
              </a:rPr>
              <a:t>true;</a:t>
            </a:r>
            <a:endParaRPr sz="900">
              <a:latin typeface="Roboto"/>
              <a:cs typeface="Roboto"/>
            </a:endParaRPr>
          </a:p>
          <a:p>
            <a:pPr marL="314325" marR="2125980">
              <a:lnSpc>
                <a:spcPct val="159700"/>
              </a:lnSpc>
            </a:pP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books[i].issuedTo</a:t>
            </a:r>
            <a:r>
              <a:rPr sz="900" spc="15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=</a:t>
            </a:r>
            <a:r>
              <a:rPr sz="900" spc="35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s.name;</a:t>
            </a:r>
            <a:r>
              <a:rPr sz="900" spc="135" dirty="0">
                <a:solidFill>
                  <a:srgbClr val="14B8A6"/>
                </a:solidFill>
                <a:latin typeface="Roboto"/>
                <a:cs typeface="Roboto"/>
              </a:rPr>
              <a:t>  </a:t>
            </a:r>
            <a:r>
              <a:rPr sz="900" spc="-70" dirty="0">
                <a:solidFill>
                  <a:srgbClr val="14B8A6"/>
                </a:solidFill>
                <a:latin typeface="Roboto"/>
                <a:cs typeface="Roboto"/>
              </a:rPr>
              <a:t>//</a:t>
            </a:r>
            <a:r>
              <a:rPr sz="900" spc="-6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14B8A6"/>
                </a:solidFill>
                <a:latin typeface="Symbol"/>
                <a:cs typeface="Symbol"/>
              </a:rPr>
              <a:t></a:t>
            </a:r>
            <a:r>
              <a:rPr sz="900" spc="235" dirty="0">
                <a:solidFill>
                  <a:srgbClr val="14B8A6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14B8A6"/>
                </a:solidFill>
                <a:latin typeface="Roboto"/>
                <a:cs typeface="Roboto"/>
              </a:rPr>
              <a:t>both</a:t>
            </a:r>
            <a:r>
              <a:rPr sz="900" spc="40" dirty="0">
                <a:solidFill>
                  <a:srgbClr val="14B8A6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14B8A6"/>
                </a:solidFill>
                <a:latin typeface="Roboto"/>
                <a:cs typeface="Roboto"/>
              </a:rPr>
              <a:t>ﬁelds </a:t>
            </a:r>
            <a:r>
              <a:rPr sz="900" dirty="0">
                <a:solidFill>
                  <a:srgbClr val="8B5CF6"/>
                </a:solidFill>
                <a:latin typeface="Roboto"/>
                <a:cs typeface="Roboto"/>
              </a:rPr>
              <a:t>s.display();</a:t>
            </a:r>
            <a:r>
              <a:rPr sz="900" spc="270" dirty="0">
                <a:solidFill>
                  <a:srgbClr val="8B5CF6"/>
                </a:solidFill>
                <a:latin typeface="Roboto"/>
                <a:cs typeface="Roboto"/>
              </a:rPr>
              <a:t> </a:t>
            </a:r>
            <a:r>
              <a:rPr sz="900" spc="-70" dirty="0">
                <a:solidFill>
                  <a:srgbClr val="8B5CF6"/>
                </a:solidFill>
                <a:latin typeface="Roboto"/>
                <a:cs typeface="Roboto"/>
              </a:rPr>
              <a:t>//</a:t>
            </a:r>
            <a:r>
              <a:rPr sz="900" spc="-65" dirty="0">
                <a:solidFill>
                  <a:srgbClr val="8B5CF6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8B5CF6"/>
                </a:solidFill>
                <a:latin typeface="Roboto"/>
                <a:cs typeface="Roboto"/>
              </a:rPr>
              <a:t>polymorphic</a:t>
            </a:r>
            <a:r>
              <a:rPr sz="900" spc="-15" dirty="0">
                <a:solidFill>
                  <a:srgbClr val="8B5CF6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8B5CF6"/>
                </a:solidFill>
                <a:latin typeface="Roboto"/>
                <a:cs typeface="Roboto"/>
              </a:rPr>
              <a:t>call</a:t>
            </a:r>
            <a:endParaRPr sz="900">
              <a:latin typeface="Roboto"/>
              <a:cs typeface="Roboto"/>
            </a:endParaRPr>
          </a:p>
          <a:p>
            <a:pPr marL="257175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}</a:t>
            </a:r>
            <a:r>
              <a:rPr sz="9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else</a:t>
            </a:r>
            <a:r>
              <a:rPr sz="900" spc="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Roboto"/>
                <a:cs typeface="Roboto"/>
              </a:rPr>
              <a:t>{</a:t>
            </a:r>
            <a:endParaRPr sz="900">
              <a:latin typeface="Roboto"/>
              <a:cs typeface="Roboto"/>
            </a:endParaRPr>
          </a:p>
          <a:p>
            <a:pPr marL="314325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EE4444"/>
                </a:solidFill>
                <a:latin typeface="Roboto"/>
                <a:cs typeface="Roboto"/>
              </a:rPr>
              <a:t>System.out.println("Already</a:t>
            </a:r>
            <a:r>
              <a:rPr sz="900" spc="355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EE4444"/>
                </a:solidFill>
                <a:latin typeface="Roboto"/>
                <a:cs typeface="Roboto"/>
              </a:rPr>
              <a:t>Issued!");</a:t>
            </a:r>
            <a:endParaRPr sz="900">
              <a:latin typeface="Roboto"/>
              <a:cs typeface="Roboto"/>
            </a:endParaRPr>
          </a:p>
          <a:p>
            <a:pPr marL="257175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FFFFFF"/>
                </a:solidFill>
                <a:latin typeface="Roboto"/>
                <a:cs typeface="Roboto"/>
              </a:rPr>
              <a:t>}</a:t>
            </a:r>
            <a:r>
              <a:rPr sz="9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Roboto"/>
                <a:cs typeface="Roboto"/>
              </a:rPr>
              <a:t>return;</a:t>
            </a:r>
            <a:endParaRPr sz="900">
              <a:latin typeface="Roboto"/>
              <a:cs typeface="Roboto"/>
            </a:endParaRPr>
          </a:p>
          <a:p>
            <a:pPr marL="200025">
              <a:lnSpc>
                <a:spcPct val="100000"/>
              </a:lnSpc>
              <a:spcBef>
                <a:spcPts val="645"/>
              </a:spcBef>
            </a:pPr>
            <a:r>
              <a:rPr sz="900" spc="-50" dirty="0">
                <a:solidFill>
                  <a:srgbClr val="FFFFFF"/>
                </a:solidFill>
                <a:latin typeface="Roboto"/>
                <a:cs typeface="Roboto"/>
              </a:rPr>
              <a:t>}</a:t>
            </a:r>
            <a:endParaRPr sz="900">
              <a:latin typeface="Roboto"/>
              <a:cs typeface="Roboto"/>
            </a:endParaRPr>
          </a:p>
          <a:p>
            <a:pPr marL="142875">
              <a:lnSpc>
                <a:spcPct val="100000"/>
              </a:lnSpc>
              <a:spcBef>
                <a:spcPts val="645"/>
              </a:spcBef>
            </a:pPr>
            <a:r>
              <a:rPr sz="900" spc="-50" dirty="0">
                <a:solidFill>
                  <a:srgbClr val="FFFFFF"/>
                </a:solidFill>
                <a:latin typeface="Roboto"/>
                <a:cs typeface="Roboto"/>
              </a:rPr>
              <a:t>}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91137" y="1824037"/>
            <a:ext cx="3571875" cy="847725"/>
            <a:chOff x="5291137" y="1824037"/>
            <a:chExt cx="3571875" cy="847725"/>
          </a:xfrm>
        </p:grpSpPr>
        <p:sp>
          <p:nvSpPr>
            <p:cNvPr id="7" name="object 7"/>
            <p:cNvSpPr/>
            <p:nvPr/>
          </p:nvSpPr>
          <p:spPr>
            <a:xfrm>
              <a:off x="5353050" y="1828800"/>
              <a:ext cx="3505200" cy="838200"/>
            </a:xfrm>
            <a:custGeom>
              <a:avLst/>
              <a:gdLst/>
              <a:ahLst/>
              <a:cxnLst/>
              <a:rect l="l" t="t" r="r" b="b"/>
              <a:pathLst>
                <a:path w="3505200" h="838200">
                  <a:moveTo>
                    <a:pt x="0" y="838200"/>
                  </a:moveTo>
                  <a:lnTo>
                    <a:pt x="3505200" y="83820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95900" y="1828800"/>
              <a:ext cx="3562350" cy="838200"/>
            </a:xfrm>
            <a:custGeom>
              <a:avLst/>
              <a:gdLst/>
              <a:ahLst/>
              <a:cxnLst/>
              <a:rect l="l" t="t" r="r" b="b"/>
              <a:pathLst>
                <a:path w="3562350" h="838200">
                  <a:moveTo>
                    <a:pt x="0" y="0"/>
                  </a:moveTo>
                  <a:lnTo>
                    <a:pt x="3562350" y="0"/>
                  </a:lnTo>
                  <a:lnTo>
                    <a:pt x="356235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5900" y="1828800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5715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83820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5900" y="1828800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0" y="0"/>
                  </a:moveTo>
                  <a:lnTo>
                    <a:pt x="57150" y="0"/>
                  </a:lnTo>
                  <a:lnTo>
                    <a:pt x="5715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291137" y="2776537"/>
            <a:ext cx="3571875" cy="847725"/>
            <a:chOff x="5291137" y="2776537"/>
            <a:chExt cx="3571875" cy="847725"/>
          </a:xfrm>
        </p:grpSpPr>
        <p:sp>
          <p:nvSpPr>
            <p:cNvPr id="12" name="object 12"/>
            <p:cNvSpPr/>
            <p:nvPr/>
          </p:nvSpPr>
          <p:spPr>
            <a:xfrm>
              <a:off x="5353050" y="2781300"/>
              <a:ext cx="3505200" cy="838200"/>
            </a:xfrm>
            <a:custGeom>
              <a:avLst/>
              <a:gdLst/>
              <a:ahLst/>
              <a:cxnLst/>
              <a:rect l="l" t="t" r="r" b="b"/>
              <a:pathLst>
                <a:path w="3505200" h="838200">
                  <a:moveTo>
                    <a:pt x="0" y="838200"/>
                  </a:moveTo>
                  <a:lnTo>
                    <a:pt x="3505200" y="83820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95900" y="2781300"/>
              <a:ext cx="3562350" cy="838200"/>
            </a:xfrm>
            <a:custGeom>
              <a:avLst/>
              <a:gdLst/>
              <a:ahLst/>
              <a:cxnLst/>
              <a:rect l="l" t="t" r="r" b="b"/>
              <a:pathLst>
                <a:path w="3562350" h="838200">
                  <a:moveTo>
                    <a:pt x="0" y="0"/>
                  </a:moveTo>
                  <a:lnTo>
                    <a:pt x="3562350" y="0"/>
                  </a:lnTo>
                  <a:lnTo>
                    <a:pt x="356235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95900" y="2781300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5715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83820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95900" y="2781300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0" y="0"/>
                  </a:moveTo>
                  <a:lnTo>
                    <a:pt x="57150" y="0"/>
                  </a:lnTo>
                  <a:lnTo>
                    <a:pt x="5715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83200" y="1449273"/>
            <a:ext cx="3570604" cy="203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4155"/>
                </a:solidFill>
                <a:latin typeface="Roboto"/>
                <a:cs typeface="Roboto"/>
              </a:rPr>
              <a:t>Why</a:t>
            </a:r>
            <a:r>
              <a:rPr sz="1200" spc="17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334155"/>
                </a:solidFill>
                <a:latin typeface="Roboto"/>
                <a:cs typeface="Roboto"/>
              </a:rPr>
              <a:t>this</a:t>
            </a:r>
            <a:r>
              <a:rPr sz="1200" spc="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334155"/>
                </a:solidFill>
                <a:latin typeface="Roboto"/>
                <a:cs typeface="Roboto"/>
              </a:rPr>
              <a:t>approach?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Roboto"/>
              <a:cs typeface="Roboto"/>
            </a:endParaRPr>
          </a:p>
          <a:p>
            <a:pPr marL="203200">
              <a:lnSpc>
                <a:spcPct val="100000"/>
              </a:lnSpc>
            </a:pP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Single</a:t>
            </a:r>
            <a:r>
              <a:rPr sz="1000" spc="40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source</a:t>
            </a:r>
            <a:r>
              <a:rPr sz="1000" spc="4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of</a:t>
            </a:r>
            <a:r>
              <a:rPr sz="1000" spc="7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spc="-20" dirty="0">
                <a:solidFill>
                  <a:srgbClr val="1B1B2E"/>
                </a:solidFill>
                <a:latin typeface="Roboto"/>
                <a:cs typeface="Roboto"/>
              </a:rPr>
              <a:t>truth</a:t>
            </a:r>
            <a:endParaRPr sz="1000">
              <a:latin typeface="Roboto"/>
              <a:cs typeface="Roboto"/>
            </a:endParaRPr>
          </a:p>
          <a:p>
            <a:pPr marL="203200" marR="153035">
              <a:lnSpc>
                <a:spcPct val="104200"/>
              </a:lnSpc>
              <a:spcBef>
                <a:spcPts val="710"/>
              </a:spcBef>
            </a:pP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isIssued</a:t>
            </a:r>
            <a:r>
              <a:rPr sz="900" spc="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900" spc="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334155"/>
                </a:solidFill>
                <a:latin typeface="Roboto"/>
                <a:cs typeface="Roboto"/>
              </a:rPr>
              <a:t>issuedTo</a:t>
            </a:r>
            <a:r>
              <a:rPr sz="900" spc="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are</a:t>
            </a:r>
            <a:r>
              <a:rPr sz="900" spc="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always updated</a:t>
            </a:r>
            <a:r>
              <a:rPr sz="900" spc="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together</a:t>
            </a:r>
            <a:r>
              <a:rPr sz="9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334155"/>
                </a:solidFill>
                <a:latin typeface="Roboto"/>
                <a:cs typeface="Roboto"/>
              </a:rPr>
              <a:t>—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 viewBooks() </a:t>
            </a:r>
            <a:r>
              <a:rPr sz="900" spc="-20" dirty="0">
                <a:solidFill>
                  <a:srgbClr val="334155"/>
                </a:solidFill>
                <a:latin typeface="Roboto"/>
                <a:cs typeface="Roboto"/>
              </a:rPr>
              <a:t>can</a:t>
            </a:r>
            <a:r>
              <a:rPr sz="900" spc="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never</a:t>
            </a:r>
            <a:r>
              <a:rPr sz="9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show</a:t>
            </a:r>
            <a:r>
              <a:rPr sz="900" spc="9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</a:t>
            </a:r>
            <a:r>
              <a:rPr sz="90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borrower</a:t>
            </a:r>
            <a:r>
              <a:rPr sz="9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name</a:t>
            </a:r>
            <a:r>
              <a:rPr sz="900" spc="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on</a:t>
            </a:r>
            <a:r>
              <a:rPr sz="900" spc="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an</a:t>
            </a:r>
            <a:r>
              <a:rPr sz="900" spc="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available book.</a:t>
            </a: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Roboto"/>
              <a:cs typeface="Roboto"/>
            </a:endParaRPr>
          </a:p>
          <a:p>
            <a:pPr marL="203200">
              <a:lnSpc>
                <a:spcPct val="100000"/>
              </a:lnSpc>
            </a:pP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Polymorphism</a:t>
            </a:r>
            <a:r>
              <a:rPr sz="1000" spc="20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in</a:t>
            </a:r>
            <a:r>
              <a:rPr sz="1000" spc="4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B1B2E"/>
                </a:solidFill>
                <a:latin typeface="Roboto"/>
                <a:cs typeface="Roboto"/>
              </a:rPr>
              <a:t>action</a:t>
            </a: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Roboto"/>
              <a:cs typeface="Roboto"/>
            </a:endParaRPr>
          </a:p>
          <a:p>
            <a:pPr marL="203200" marR="311785">
              <a:lnSpc>
                <a:spcPct val="104200"/>
              </a:lnSpc>
            </a:pP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s.display()</a:t>
            </a:r>
            <a:r>
              <a:rPr sz="900" spc="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334155"/>
                </a:solidFill>
                <a:latin typeface="Roboto"/>
                <a:cs typeface="Roboto"/>
              </a:rPr>
              <a:t>calls</a:t>
            </a:r>
            <a:r>
              <a:rPr sz="900" spc="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Student's</a:t>
            </a:r>
            <a:r>
              <a:rPr sz="900" spc="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override</a:t>
            </a:r>
            <a:r>
              <a:rPr sz="900" spc="1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automatically.</a:t>
            </a:r>
            <a:r>
              <a:rPr sz="900" spc="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Adding</a:t>
            </a:r>
            <a:r>
              <a:rPr sz="900" spc="7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50" dirty="0">
                <a:solidFill>
                  <a:srgbClr val="334155"/>
                </a:solidFill>
                <a:latin typeface="Roboto"/>
                <a:cs typeface="Roboto"/>
              </a:rPr>
              <a:t>a</a:t>
            </a:r>
            <a:r>
              <a:rPr sz="900" spc="50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25" dirty="0">
                <a:solidFill>
                  <a:srgbClr val="334155"/>
                </a:solidFill>
                <a:latin typeface="Roboto"/>
                <a:cs typeface="Roboto"/>
              </a:rPr>
              <a:t>Teacher</a:t>
            </a:r>
            <a:r>
              <a:rPr sz="9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25" dirty="0">
                <a:solidFill>
                  <a:srgbClr val="334155"/>
                </a:solidFill>
                <a:latin typeface="Roboto"/>
                <a:cs typeface="Roboto"/>
              </a:rPr>
              <a:t>class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 later</a:t>
            </a:r>
            <a:r>
              <a:rPr sz="9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needs zero</a:t>
            </a:r>
            <a:r>
              <a:rPr sz="900" spc="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changes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334155"/>
                </a:solidFill>
                <a:latin typeface="Roboto"/>
                <a:cs typeface="Roboto"/>
              </a:rPr>
              <a:t>here.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91137" y="3738562"/>
            <a:ext cx="3571875" cy="847725"/>
            <a:chOff x="5291137" y="3738562"/>
            <a:chExt cx="3571875" cy="847725"/>
          </a:xfrm>
        </p:grpSpPr>
        <p:sp>
          <p:nvSpPr>
            <p:cNvPr id="18" name="object 18"/>
            <p:cNvSpPr/>
            <p:nvPr/>
          </p:nvSpPr>
          <p:spPr>
            <a:xfrm>
              <a:off x="5353050" y="3743325"/>
              <a:ext cx="3505200" cy="838200"/>
            </a:xfrm>
            <a:custGeom>
              <a:avLst/>
              <a:gdLst/>
              <a:ahLst/>
              <a:cxnLst/>
              <a:rect l="l" t="t" r="r" b="b"/>
              <a:pathLst>
                <a:path w="3505200" h="838200">
                  <a:moveTo>
                    <a:pt x="0" y="838200"/>
                  </a:moveTo>
                  <a:lnTo>
                    <a:pt x="3505200" y="83820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95900" y="3743325"/>
              <a:ext cx="3562350" cy="838200"/>
            </a:xfrm>
            <a:custGeom>
              <a:avLst/>
              <a:gdLst/>
              <a:ahLst/>
              <a:cxnLst/>
              <a:rect l="l" t="t" r="r" b="b"/>
              <a:pathLst>
                <a:path w="3562350" h="838200">
                  <a:moveTo>
                    <a:pt x="0" y="0"/>
                  </a:moveTo>
                  <a:lnTo>
                    <a:pt x="3562350" y="0"/>
                  </a:lnTo>
                  <a:lnTo>
                    <a:pt x="356235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95900" y="374332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5715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83820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95900" y="3743325"/>
              <a:ext cx="57150" cy="838200"/>
            </a:xfrm>
            <a:custGeom>
              <a:avLst/>
              <a:gdLst/>
              <a:ahLst/>
              <a:cxnLst/>
              <a:rect l="l" t="t" r="r" b="b"/>
              <a:pathLst>
                <a:path w="57150" h="838200">
                  <a:moveTo>
                    <a:pt x="0" y="0"/>
                  </a:moveTo>
                  <a:lnTo>
                    <a:pt x="57150" y="0"/>
                  </a:lnTo>
                  <a:lnTo>
                    <a:pt x="5715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57812" y="3821810"/>
            <a:ext cx="34956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Early</a:t>
            </a:r>
            <a:r>
              <a:rPr sz="1000" spc="60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exit</a:t>
            </a:r>
            <a:r>
              <a:rPr sz="1000" spc="5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dirty="0">
                <a:solidFill>
                  <a:srgbClr val="1B1B2E"/>
                </a:solidFill>
                <a:latin typeface="Roboto"/>
                <a:cs typeface="Roboto"/>
              </a:rPr>
              <a:t>with</a:t>
            </a:r>
            <a:r>
              <a:rPr sz="1000" spc="65" dirty="0">
                <a:solidFill>
                  <a:srgbClr val="1B1B2E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1B1B2E"/>
                </a:solidFill>
                <a:latin typeface="Roboto"/>
                <a:cs typeface="Roboto"/>
              </a:rPr>
              <a:t>return</a:t>
            </a:r>
            <a:endParaRPr sz="1000">
              <a:latin typeface="Roboto"/>
              <a:cs typeface="Roboto"/>
            </a:endParaRPr>
          </a:p>
          <a:p>
            <a:pPr marL="128270" marR="339725">
              <a:lnSpc>
                <a:spcPct val="104200"/>
              </a:lnSpc>
              <a:spcBef>
                <a:spcPts val="705"/>
              </a:spcBef>
            </a:pP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Once</a:t>
            </a:r>
            <a:r>
              <a:rPr sz="900" spc="1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a</a:t>
            </a:r>
            <a:r>
              <a:rPr sz="900" spc="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match</a:t>
            </a:r>
            <a:r>
              <a:rPr sz="900" spc="9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is</a:t>
            </a:r>
            <a:r>
              <a:rPr sz="900" spc="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found,</a:t>
            </a:r>
            <a:r>
              <a:rPr sz="900" spc="1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900" spc="114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method</a:t>
            </a:r>
            <a:r>
              <a:rPr sz="900" spc="7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returns</a:t>
            </a:r>
            <a:r>
              <a:rPr sz="900" spc="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immediately.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'Book</a:t>
            </a:r>
            <a:r>
              <a:rPr sz="900" spc="7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Not</a:t>
            </a:r>
            <a:r>
              <a:rPr sz="900" spc="8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Found!'</a:t>
            </a:r>
            <a:r>
              <a:rPr sz="900" spc="7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only</a:t>
            </a:r>
            <a:r>
              <a:rPr sz="900" spc="10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prints</a:t>
            </a:r>
            <a:r>
              <a:rPr sz="90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when</a:t>
            </a:r>
            <a:r>
              <a:rPr sz="900" spc="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900" spc="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full</a:t>
            </a:r>
            <a:r>
              <a:rPr sz="900" spc="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334155"/>
                </a:solidFill>
                <a:latin typeface="Roboto"/>
                <a:cs typeface="Roboto"/>
              </a:rPr>
              <a:t>catalogue</a:t>
            </a:r>
            <a:r>
              <a:rPr sz="900" spc="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900" spc="-25" dirty="0">
                <a:solidFill>
                  <a:srgbClr val="334155"/>
                </a:solidFill>
                <a:latin typeface="Roboto"/>
                <a:cs typeface="Roboto"/>
              </a:rPr>
              <a:t>is</a:t>
            </a:r>
            <a:r>
              <a:rPr sz="900" spc="-10" dirty="0">
                <a:solidFill>
                  <a:srgbClr val="334155"/>
                </a:solidFill>
                <a:latin typeface="Roboto"/>
                <a:cs typeface="Roboto"/>
              </a:rPr>
              <a:t> searched.</a:t>
            </a:r>
            <a:endParaRPr sz="9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200025"/>
            <a:ext cx="400050" cy="4000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Live</a:t>
            </a:r>
            <a:r>
              <a:rPr spc="10" dirty="0"/>
              <a:t> </a:t>
            </a:r>
            <a:r>
              <a:rPr spc="-20" dirty="0"/>
              <a:t>Demo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93125" y="307492"/>
            <a:ext cx="373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4A3B8"/>
                </a:solidFill>
                <a:latin typeface="Roboto"/>
                <a:cs typeface="Roboto"/>
              </a:rPr>
              <a:t>Slide </a:t>
            </a:r>
            <a:r>
              <a:rPr sz="900" spc="-50" dirty="0">
                <a:solidFill>
                  <a:srgbClr val="94A3B8"/>
                </a:solidFill>
                <a:latin typeface="Roboto"/>
                <a:cs typeface="Roboto"/>
              </a:rPr>
              <a:t>5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1937" y="947737"/>
            <a:ext cx="2838450" cy="3952875"/>
            <a:chOff x="261937" y="947737"/>
            <a:chExt cx="2838450" cy="3952875"/>
          </a:xfrm>
        </p:grpSpPr>
        <p:sp>
          <p:nvSpPr>
            <p:cNvPr id="6" name="object 6"/>
            <p:cNvSpPr/>
            <p:nvPr/>
          </p:nvSpPr>
          <p:spPr>
            <a:xfrm>
              <a:off x="266700" y="1009650"/>
              <a:ext cx="2828925" cy="3886200"/>
            </a:xfrm>
            <a:custGeom>
              <a:avLst/>
              <a:gdLst/>
              <a:ahLst/>
              <a:cxnLst/>
              <a:rect l="l" t="t" r="r" b="b"/>
              <a:pathLst>
                <a:path w="2828925" h="3886200">
                  <a:moveTo>
                    <a:pt x="0" y="3886200"/>
                  </a:moveTo>
                  <a:lnTo>
                    <a:pt x="2828925" y="3886200"/>
                  </a:lnTo>
                  <a:lnTo>
                    <a:pt x="2828925" y="0"/>
                  </a:lnTo>
                  <a:lnTo>
                    <a:pt x="0" y="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2D2D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700" y="952500"/>
              <a:ext cx="2828925" cy="3943350"/>
            </a:xfrm>
            <a:custGeom>
              <a:avLst/>
              <a:gdLst/>
              <a:ahLst/>
              <a:cxnLst/>
              <a:rect l="l" t="t" r="r" b="b"/>
              <a:pathLst>
                <a:path w="2828925" h="3943350">
                  <a:moveTo>
                    <a:pt x="0" y="0"/>
                  </a:moveTo>
                  <a:lnTo>
                    <a:pt x="2828925" y="0"/>
                  </a:lnTo>
                  <a:lnTo>
                    <a:pt x="2828925" y="3943350"/>
                  </a:lnTo>
                  <a:lnTo>
                    <a:pt x="0" y="39433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D2D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700" y="952500"/>
              <a:ext cx="2828925" cy="57150"/>
            </a:xfrm>
            <a:custGeom>
              <a:avLst/>
              <a:gdLst/>
              <a:ahLst/>
              <a:cxnLst/>
              <a:rect l="l" t="t" r="r" b="b"/>
              <a:pathLst>
                <a:path w="2828925" h="57150">
                  <a:moveTo>
                    <a:pt x="2828925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5715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00" y="952500"/>
              <a:ext cx="2828925" cy="57150"/>
            </a:xfrm>
            <a:custGeom>
              <a:avLst/>
              <a:gdLst/>
              <a:ahLst/>
              <a:cxnLst/>
              <a:rect l="l" t="t" r="r" b="b"/>
              <a:pathLst>
                <a:path w="2828925" h="57150">
                  <a:moveTo>
                    <a:pt x="0" y="0"/>
                  </a:moveTo>
                  <a:lnTo>
                    <a:pt x="2828925" y="0"/>
                  </a:lnTo>
                  <a:lnTo>
                    <a:pt x="2828925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150" y="1762125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25146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514600" y="0"/>
                  </a:lnTo>
                  <a:lnTo>
                    <a:pt x="2514600" y="9525"/>
                  </a:lnTo>
                  <a:close/>
                </a:path>
              </a:pathLst>
            </a:custGeom>
            <a:solidFill>
              <a:srgbClr val="0D9488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50" y="1762125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62" y="2033587"/>
              <a:ext cx="114300" cy="114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62" y="2481262"/>
              <a:ext cx="114300" cy="114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62" y="2928937"/>
              <a:ext cx="114300" cy="114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62" y="3376612"/>
              <a:ext cx="114300" cy="114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962" y="3824287"/>
              <a:ext cx="114300" cy="114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62" y="4271962"/>
              <a:ext cx="114300" cy="114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71462" y="857051"/>
            <a:ext cx="2819400" cy="355663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505"/>
              </a:spcBef>
            </a:pPr>
            <a:r>
              <a:rPr sz="2200" spc="45" dirty="0">
                <a:solidFill>
                  <a:srgbClr val="0D9488"/>
                </a:solidFill>
                <a:latin typeface="Roboto"/>
                <a:cs typeface="Roboto"/>
              </a:rPr>
              <a:t>01</a:t>
            </a:r>
            <a:endParaRPr sz="2200">
              <a:latin typeface="Roboto"/>
              <a:cs typeface="Roboto"/>
            </a:endParaRPr>
          </a:p>
          <a:p>
            <a:pPr marL="166370">
              <a:lnSpc>
                <a:spcPct val="100000"/>
              </a:lnSpc>
              <a:spcBef>
                <a:spcPts val="765"/>
              </a:spcBef>
            </a:pPr>
            <a:r>
              <a:rPr sz="1200" dirty="0">
                <a:solidFill>
                  <a:srgbClr val="FFFFFF"/>
                </a:solidFill>
                <a:latin typeface="Roboto"/>
                <a:cs typeface="Roboto"/>
              </a:rPr>
              <a:t>Working</a:t>
            </a:r>
            <a:r>
              <a:rPr sz="1200" spc="2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"/>
                <a:cs typeface="Roboto"/>
              </a:rPr>
              <a:t>System</a:t>
            </a:r>
            <a:endParaRPr sz="1200">
              <a:latin typeface="Roboto"/>
              <a:cs typeface="Roboto"/>
            </a:endParaRPr>
          </a:p>
          <a:p>
            <a:pPr marL="385445" marR="894715">
              <a:lnSpc>
                <a:spcPct val="326400"/>
              </a:lnSpc>
              <a:spcBef>
                <a:spcPts val="400"/>
              </a:spcBef>
            </a:pP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Run</a:t>
            </a:r>
            <a:r>
              <a:rPr sz="900" spc="-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Library</a:t>
            </a:r>
            <a:r>
              <a:rPr sz="900" spc="-12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Management.java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Add</a:t>
            </a:r>
            <a:r>
              <a:rPr sz="900" spc="4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book:</a:t>
            </a:r>
            <a:r>
              <a:rPr sz="900" spc="3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60" dirty="0">
                <a:solidFill>
                  <a:srgbClr val="CBD4E1"/>
                </a:solidFill>
                <a:latin typeface="Roboto"/>
                <a:cs typeface="Roboto"/>
              </a:rPr>
              <a:t>ID=10</a:t>
            </a:r>
            <a:r>
              <a:rPr sz="900" spc="-13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10" dirty="0">
                <a:solidFill>
                  <a:srgbClr val="CBD4E1"/>
                </a:solidFill>
                <a:latin typeface="Roboto"/>
                <a:cs typeface="Roboto"/>
              </a:rPr>
              <a:t>1,</a:t>
            </a:r>
            <a:r>
              <a:rPr sz="900" spc="8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40" dirty="0">
                <a:solidFill>
                  <a:srgbClr val="CBD4E1"/>
                </a:solidFill>
                <a:latin typeface="Roboto"/>
                <a:cs typeface="Roboto"/>
              </a:rPr>
              <a:t>Java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5" dirty="0">
                <a:solidFill>
                  <a:srgbClr val="CBD4E1"/>
                </a:solidFill>
                <a:latin typeface="Roboto"/>
                <a:cs typeface="Roboto"/>
              </a:rPr>
              <a:t>OOP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 View</a:t>
            </a:r>
            <a:r>
              <a:rPr sz="900" spc="8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books</a:t>
            </a:r>
            <a:r>
              <a:rPr sz="900" spc="270" dirty="0">
                <a:solidFill>
                  <a:srgbClr val="CBD4E1"/>
                </a:solidFill>
                <a:latin typeface="Roboto"/>
                <a:cs typeface="Roboto"/>
              </a:rPr>
              <a:t> 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Issued:</a:t>
            </a:r>
            <a:r>
              <a:rPr sz="900" spc="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false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Issue</a:t>
            </a:r>
            <a:r>
              <a:rPr sz="900" spc="5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to</a:t>
            </a:r>
            <a:r>
              <a:rPr sz="900" spc="1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Student</a:t>
            </a:r>
            <a:r>
              <a:rPr sz="900" spc="8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78</a:t>
            </a:r>
            <a:r>
              <a:rPr sz="900" spc="2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(Esha)</a:t>
            </a:r>
            <a:endParaRPr sz="900">
              <a:latin typeface="Roboto"/>
              <a:cs typeface="Roboto"/>
            </a:endParaRPr>
          </a:p>
          <a:p>
            <a:pPr marL="385445" marR="622300">
              <a:lnSpc>
                <a:spcPct val="326400"/>
              </a:lnSpc>
              <a:tabLst>
                <a:tab pos="1155065" algn="l"/>
              </a:tabLst>
            </a:pP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View</a:t>
            </a:r>
            <a:r>
              <a:rPr sz="900" spc="9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books</a:t>
            </a:r>
            <a:r>
              <a:rPr sz="900" spc="290" dirty="0">
                <a:solidFill>
                  <a:srgbClr val="CBD4E1"/>
                </a:solidFill>
                <a:latin typeface="Roboto"/>
                <a:cs typeface="Roboto"/>
              </a:rPr>
              <a:t> 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Issued:</a:t>
            </a:r>
            <a:r>
              <a:rPr sz="900" spc="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true</a:t>
            </a:r>
            <a:r>
              <a:rPr sz="900" spc="3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to</a:t>
            </a:r>
            <a:r>
              <a:rPr sz="900" spc="2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Esha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Return</a:t>
            </a:r>
            <a:r>
              <a:rPr sz="900" spc="5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book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	Issued:</a:t>
            </a:r>
            <a:r>
              <a:rPr sz="900" spc="-4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false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05162" y="947737"/>
            <a:ext cx="2838450" cy="3952875"/>
            <a:chOff x="3205162" y="947737"/>
            <a:chExt cx="2838450" cy="3952875"/>
          </a:xfrm>
        </p:grpSpPr>
        <p:sp>
          <p:nvSpPr>
            <p:cNvPr id="20" name="object 20"/>
            <p:cNvSpPr/>
            <p:nvPr/>
          </p:nvSpPr>
          <p:spPr>
            <a:xfrm>
              <a:off x="3209925" y="1009650"/>
              <a:ext cx="2828925" cy="3886200"/>
            </a:xfrm>
            <a:custGeom>
              <a:avLst/>
              <a:gdLst/>
              <a:ahLst/>
              <a:cxnLst/>
              <a:rect l="l" t="t" r="r" b="b"/>
              <a:pathLst>
                <a:path w="2828925" h="3886200">
                  <a:moveTo>
                    <a:pt x="0" y="3886200"/>
                  </a:moveTo>
                  <a:lnTo>
                    <a:pt x="2828925" y="3886200"/>
                  </a:lnTo>
                  <a:lnTo>
                    <a:pt x="2828925" y="0"/>
                  </a:lnTo>
                  <a:lnTo>
                    <a:pt x="0" y="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2D2D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09925" y="952500"/>
              <a:ext cx="2828925" cy="3943350"/>
            </a:xfrm>
            <a:custGeom>
              <a:avLst/>
              <a:gdLst/>
              <a:ahLst/>
              <a:cxnLst/>
              <a:rect l="l" t="t" r="r" b="b"/>
              <a:pathLst>
                <a:path w="2828925" h="3943350">
                  <a:moveTo>
                    <a:pt x="0" y="0"/>
                  </a:moveTo>
                  <a:lnTo>
                    <a:pt x="2828925" y="0"/>
                  </a:lnTo>
                  <a:lnTo>
                    <a:pt x="2828925" y="3943350"/>
                  </a:lnTo>
                  <a:lnTo>
                    <a:pt x="0" y="39433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D2D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09925" y="952500"/>
              <a:ext cx="2828925" cy="57150"/>
            </a:xfrm>
            <a:custGeom>
              <a:avLst/>
              <a:gdLst/>
              <a:ahLst/>
              <a:cxnLst/>
              <a:rect l="l" t="t" r="r" b="b"/>
              <a:pathLst>
                <a:path w="2828925" h="57150">
                  <a:moveTo>
                    <a:pt x="2828925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57150"/>
                  </a:lnTo>
                  <a:close/>
                </a:path>
              </a:pathLst>
            </a:custGeom>
            <a:solidFill>
              <a:srgbClr val="8B5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9925" y="952500"/>
              <a:ext cx="2828925" cy="57150"/>
            </a:xfrm>
            <a:custGeom>
              <a:avLst/>
              <a:gdLst/>
              <a:ahLst/>
              <a:cxnLst/>
              <a:rect l="l" t="t" r="r" b="b"/>
              <a:pathLst>
                <a:path w="2828925" h="57150">
                  <a:moveTo>
                    <a:pt x="0" y="0"/>
                  </a:moveTo>
                  <a:lnTo>
                    <a:pt x="2828925" y="0"/>
                  </a:lnTo>
                  <a:lnTo>
                    <a:pt x="2828925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8B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81375" y="1762125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25146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514600" y="0"/>
                  </a:lnTo>
                  <a:lnTo>
                    <a:pt x="2514600" y="9525"/>
                  </a:lnTo>
                  <a:close/>
                </a:path>
              </a:pathLst>
            </a:custGeom>
            <a:solidFill>
              <a:srgbClr val="8B5CF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81375" y="1762125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8B5C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4712" y="2033587"/>
              <a:ext cx="114300" cy="114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4712" y="2481262"/>
              <a:ext cx="114300" cy="114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4712" y="2928937"/>
              <a:ext cx="114300" cy="114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4712" y="3376612"/>
              <a:ext cx="114300" cy="114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4712" y="3824287"/>
              <a:ext cx="114300" cy="114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4712" y="4271962"/>
              <a:ext cx="114300" cy="1143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214687" y="857051"/>
            <a:ext cx="2819400" cy="355663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505"/>
              </a:spcBef>
            </a:pPr>
            <a:r>
              <a:rPr sz="2200" spc="50" dirty="0">
                <a:solidFill>
                  <a:srgbClr val="8B5CF6"/>
                </a:solidFill>
                <a:latin typeface="Roboto"/>
                <a:cs typeface="Roboto"/>
              </a:rPr>
              <a:t>02</a:t>
            </a:r>
            <a:endParaRPr sz="2200">
              <a:latin typeface="Roboto"/>
              <a:cs typeface="Roboto"/>
            </a:endParaRPr>
          </a:p>
          <a:p>
            <a:pPr marL="166370">
              <a:lnSpc>
                <a:spcPct val="100000"/>
              </a:lnSpc>
              <a:spcBef>
                <a:spcPts val="765"/>
              </a:spcBef>
            </a:pPr>
            <a:r>
              <a:rPr sz="1200" spc="-20" dirty="0">
                <a:solidFill>
                  <a:srgbClr val="FFFFFF"/>
                </a:solidFill>
                <a:latin typeface="Roboto"/>
                <a:cs typeface="Roboto"/>
              </a:rPr>
              <a:t>Meaningful</a:t>
            </a:r>
            <a:r>
              <a:rPr sz="1200" spc="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"/>
                <a:cs typeface="Roboto"/>
              </a:rPr>
              <a:t>Scenario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200">
              <a:latin typeface="Roboto"/>
              <a:cs typeface="Roboto"/>
            </a:endParaRPr>
          </a:p>
          <a:p>
            <a:pPr marL="385445">
              <a:lnSpc>
                <a:spcPct val="100000"/>
              </a:lnSpc>
            </a:pP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Issue</a:t>
            </a:r>
            <a:r>
              <a:rPr sz="900" spc="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book</a:t>
            </a:r>
            <a:r>
              <a:rPr sz="900" spc="4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25" dirty="0">
                <a:solidFill>
                  <a:srgbClr val="CBD4E1"/>
                </a:solidFill>
                <a:latin typeface="Roboto"/>
                <a:cs typeface="Roboto"/>
              </a:rPr>
              <a:t>10</a:t>
            </a:r>
            <a:r>
              <a:rPr sz="900" spc="-14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1again</a:t>
            </a:r>
            <a:endParaRPr sz="900">
              <a:latin typeface="Roboto"/>
              <a:cs typeface="Roboto"/>
            </a:endParaRPr>
          </a:p>
          <a:p>
            <a:pPr marL="385445" marR="745490">
              <a:lnSpc>
                <a:spcPct val="326400"/>
              </a:lnSpc>
            </a:pP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System</a:t>
            </a:r>
            <a:r>
              <a:rPr sz="900" spc="114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shows:</a:t>
            </a:r>
            <a:r>
              <a:rPr sz="900" spc="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'Already</a:t>
            </a:r>
            <a:r>
              <a:rPr sz="900" spc="1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Issued!' Try</a:t>
            </a:r>
            <a:r>
              <a:rPr sz="900" spc="10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to</a:t>
            </a:r>
            <a:r>
              <a:rPr sz="900" spc="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return</a:t>
            </a:r>
            <a:r>
              <a:rPr sz="900" spc="3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45" dirty="0">
                <a:solidFill>
                  <a:srgbClr val="CBD4E1"/>
                </a:solidFill>
                <a:latin typeface="Roboto"/>
                <a:cs typeface="Roboto"/>
              </a:rPr>
              <a:t>non-</a:t>
            </a:r>
            <a:r>
              <a:rPr sz="900" spc="-10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issued</a:t>
            </a:r>
            <a:r>
              <a:rPr sz="900" spc="1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book</a:t>
            </a:r>
            <a:endParaRPr sz="900">
              <a:latin typeface="Roboto"/>
              <a:cs typeface="Roboto"/>
            </a:endParaRPr>
          </a:p>
          <a:p>
            <a:pPr marL="385445" marR="427990">
              <a:lnSpc>
                <a:spcPct val="326400"/>
              </a:lnSpc>
            </a:pP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System</a:t>
            </a:r>
            <a:r>
              <a:rPr sz="900" spc="114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shows:</a:t>
            </a:r>
            <a:r>
              <a:rPr sz="900" spc="1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'Book</a:t>
            </a:r>
            <a:r>
              <a:rPr sz="900" spc="7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was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not</a:t>
            </a:r>
            <a:r>
              <a:rPr sz="900" spc="9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issued!' Search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 book</a:t>
            </a:r>
            <a:r>
              <a:rPr sz="900" spc="3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ID=999</a:t>
            </a: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9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Roboto"/>
              <a:cs typeface="Roboto"/>
            </a:endParaRPr>
          </a:p>
          <a:p>
            <a:pPr marL="385445">
              <a:lnSpc>
                <a:spcPct val="100000"/>
              </a:lnSpc>
            </a:pP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System</a:t>
            </a:r>
            <a:r>
              <a:rPr sz="900" spc="10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shows:</a:t>
            </a:r>
            <a:r>
              <a:rPr sz="900" spc="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'Book</a:t>
            </a:r>
            <a:r>
              <a:rPr sz="900" spc="7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Not</a:t>
            </a:r>
            <a:r>
              <a:rPr sz="900" spc="8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Found!'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57913" y="947737"/>
            <a:ext cx="2838450" cy="3952875"/>
            <a:chOff x="6157913" y="947737"/>
            <a:chExt cx="2838450" cy="3952875"/>
          </a:xfrm>
        </p:grpSpPr>
        <p:sp>
          <p:nvSpPr>
            <p:cNvPr id="34" name="object 34"/>
            <p:cNvSpPr/>
            <p:nvPr/>
          </p:nvSpPr>
          <p:spPr>
            <a:xfrm>
              <a:off x="6162675" y="1009650"/>
              <a:ext cx="2828925" cy="3886200"/>
            </a:xfrm>
            <a:custGeom>
              <a:avLst/>
              <a:gdLst/>
              <a:ahLst/>
              <a:cxnLst/>
              <a:rect l="l" t="t" r="r" b="b"/>
              <a:pathLst>
                <a:path w="2828925" h="3886200">
                  <a:moveTo>
                    <a:pt x="0" y="3886200"/>
                  </a:moveTo>
                  <a:lnTo>
                    <a:pt x="2828925" y="3886200"/>
                  </a:lnTo>
                  <a:lnTo>
                    <a:pt x="2828925" y="0"/>
                  </a:lnTo>
                  <a:lnTo>
                    <a:pt x="0" y="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2D2D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62675" y="952500"/>
              <a:ext cx="2828925" cy="3943350"/>
            </a:xfrm>
            <a:custGeom>
              <a:avLst/>
              <a:gdLst/>
              <a:ahLst/>
              <a:cxnLst/>
              <a:rect l="l" t="t" r="r" b="b"/>
              <a:pathLst>
                <a:path w="2828925" h="3943350">
                  <a:moveTo>
                    <a:pt x="0" y="0"/>
                  </a:moveTo>
                  <a:lnTo>
                    <a:pt x="2828925" y="0"/>
                  </a:lnTo>
                  <a:lnTo>
                    <a:pt x="2828925" y="3943350"/>
                  </a:lnTo>
                  <a:lnTo>
                    <a:pt x="0" y="39433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D2D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62675" y="952500"/>
              <a:ext cx="2828925" cy="57150"/>
            </a:xfrm>
            <a:custGeom>
              <a:avLst/>
              <a:gdLst/>
              <a:ahLst/>
              <a:cxnLst/>
              <a:rect l="l" t="t" r="r" b="b"/>
              <a:pathLst>
                <a:path w="2828925" h="57150">
                  <a:moveTo>
                    <a:pt x="2828925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5715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62675" y="952500"/>
              <a:ext cx="2828925" cy="57150"/>
            </a:xfrm>
            <a:custGeom>
              <a:avLst/>
              <a:gdLst/>
              <a:ahLst/>
              <a:cxnLst/>
              <a:rect l="l" t="t" r="r" b="b"/>
              <a:pathLst>
                <a:path w="2828925" h="57150">
                  <a:moveTo>
                    <a:pt x="0" y="0"/>
                  </a:moveTo>
                  <a:lnTo>
                    <a:pt x="2828925" y="0"/>
                  </a:lnTo>
                  <a:lnTo>
                    <a:pt x="2828925" y="57150"/>
                  </a:lnTo>
                  <a:lnTo>
                    <a:pt x="0" y="5715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24600" y="1762125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25146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514600" y="0"/>
                  </a:lnTo>
                  <a:lnTo>
                    <a:pt x="2514600" y="9525"/>
                  </a:lnTo>
                  <a:close/>
                </a:path>
              </a:pathLst>
            </a:custGeom>
            <a:solidFill>
              <a:srgbClr val="EE4444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4600" y="1762125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7938" y="2033587"/>
              <a:ext cx="114300" cy="114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7938" y="2481262"/>
              <a:ext cx="114300" cy="114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7938" y="2928937"/>
              <a:ext cx="114300" cy="114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7938" y="3376612"/>
              <a:ext cx="114300" cy="1143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7938" y="3824287"/>
              <a:ext cx="114300" cy="114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7938" y="4271962"/>
              <a:ext cx="114300" cy="1143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167438" y="857051"/>
            <a:ext cx="2819400" cy="355663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505"/>
              </a:spcBef>
            </a:pPr>
            <a:r>
              <a:rPr sz="2200" spc="45" dirty="0">
                <a:solidFill>
                  <a:srgbClr val="EE4444"/>
                </a:solidFill>
                <a:latin typeface="Roboto"/>
                <a:cs typeface="Roboto"/>
              </a:rPr>
              <a:t>03</a:t>
            </a:r>
            <a:endParaRPr sz="2200">
              <a:latin typeface="Roboto"/>
              <a:cs typeface="Roboto"/>
            </a:endParaRPr>
          </a:p>
          <a:p>
            <a:pPr marL="156845">
              <a:lnSpc>
                <a:spcPct val="100000"/>
              </a:lnSpc>
              <a:spcBef>
                <a:spcPts val="765"/>
              </a:spcBef>
            </a:pPr>
            <a:r>
              <a:rPr sz="1200" dirty="0">
                <a:solidFill>
                  <a:srgbClr val="FFFFFF"/>
                </a:solidFill>
                <a:latin typeface="Roboto"/>
                <a:cs typeface="Roboto"/>
              </a:rPr>
              <a:t>Error</a:t>
            </a:r>
            <a:r>
              <a:rPr sz="1200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boto"/>
                <a:cs typeface="Roboto"/>
              </a:rPr>
              <a:t>Handling</a:t>
            </a:r>
            <a:endParaRPr sz="1200">
              <a:latin typeface="Roboto"/>
              <a:cs typeface="Roboto"/>
            </a:endParaRPr>
          </a:p>
          <a:p>
            <a:pPr marL="474980" marR="824230" indent="-99695">
              <a:lnSpc>
                <a:spcPct val="326400"/>
              </a:lnSpc>
              <a:spcBef>
                <a:spcPts val="400"/>
              </a:spcBef>
            </a:pPr>
            <a:r>
              <a:rPr sz="900" spc="-80" dirty="0">
                <a:solidFill>
                  <a:srgbClr val="CBD4E1"/>
                </a:solidFill>
                <a:latin typeface="Roboto"/>
                <a:cs typeface="Roboto"/>
              </a:rPr>
              <a:t>Ty</a:t>
            </a:r>
            <a:r>
              <a:rPr sz="900" spc="-1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pe</a:t>
            </a:r>
            <a:r>
              <a:rPr sz="900" spc="6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'xyz'</a:t>
            </a:r>
            <a:r>
              <a:rPr sz="900" spc="8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at</a:t>
            </a:r>
            <a:r>
              <a:rPr sz="900" spc="10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menu</a:t>
            </a:r>
            <a:r>
              <a:rPr sz="900" spc="5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prompt </a:t>
            </a:r>
            <a:r>
              <a:rPr sz="900" spc="-25" dirty="0">
                <a:solidFill>
                  <a:srgbClr val="EE4444"/>
                </a:solidFill>
                <a:latin typeface="Roboto"/>
                <a:cs typeface="Roboto"/>
              </a:rPr>
              <a:t>'Please</a:t>
            </a:r>
            <a:r>
              <a:rPr sz="900" spc="25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EE4444"/>
                </a:solidFill>
                <a:latin typeface="Roboto"/>
                <a:cs typeface="Roboto"/>
              </a:rPr>
              <a:t>enter</a:t>
            </a:r>
            <a:r>
              <a:rPr sz="900" spc="20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EE4444"/>
                </a:solidFill>
                <a:latin typeface="Roboto"/>
                <a:cs typeface="Roboto"/>
              </a:rPr>
              <a:t>a</a:t>
            </a:r>
            <a:r>
              <a:rPr sz="900" spc="-25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EE4444"/>
                </a:solidFill>
                <a:latin typeface="Roboto"/>
                <a:cs typeface="Roboto"/>
              </a:rPr>
              <a:t>valid</a:t>
            </a:r>
            <a:r>
              <a:rPr sz="900" spc="35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EE4444"/>
                </a:solidFill>
                <a:latin typeface="Roboto"/>
                <a:cs typeface="Roboto"/>
              </a:rPr>
              <a:t>number!'</a:t>
            </a:r>
            <a:endParaRPr sz="900">
              <a:latin typeface="Roboto"/>
              <a:cs typeface="Roboto"/>
            </a:endParaRPr>
          </a:p>
          <a:p>
            <a:pPr marL="474980" marR="1097280" indent="-99695">
              <a:lnSpc>
                <a:spcPct val="326400"/>
              </a:lnSpc>
            </a:pPr>
            <a:r>
              <a:rPr sz="900" spc="-80" dirty="0">
                <a:solidFill>
                  <a:srgbClr val="CBD4E1"/>
                </a:solidFill>
                <a:latin typeface="Roboto"/>
                <a:cs typeface="Roboto"/>
              </a:rPr>
              <a:t>Ty</a:t>
            </a:r>
            <a:r>
              <a:rPr sz="900" spc="-12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pe</a:t>
            </a:r>
            <a:r>
              <a:rPr sz="900" spc="3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'abc'</a:t>
            </a:r>
            <a:r>
              <a:rPr sz="900" spc="6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for</a:t>
            </a:r>
            <a:r>
              <a:rPr sz="900" spc="-1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Book</a:t>
            </a:r>
            <a:r>
              <a:rPr sz="900" spc="6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5" dirty="0">
                <a:solidFill>
                  <a:srgbClr val="CBD4E1"/>
                </a:solidFill>
                <a:latin typeface="Roboto"/>
                <a:cs typeface="Roboto"/>
              </a:rPr>
              <a:t>ID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EE4444"/>
                </a:solidFill>
                <a:latin typeface="Roboto"/>
                <a:cs typeface="Roboto"/>
              </a:rPr>
              <a:t>'Invalid</a:t>
            </a:r>
            <a:r>
              <a:rPr sz="900" spc="5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EE4444"/>
                </a:solidFill>
                <a:latin typeface="Roboto"/>
                <a:cs typeface="Roboto"/>
              </a:rPr>
              <a:t>Input!</a:t>
            </a:r>
            <a:r>
              <a:rPr sz="900" spc="-5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EE4444"/>
                </a:solidFill>
                <a:latin typeface="Roboto"/>
                <a:cs typeface="Roboto"/>
              </a:rPr>
              <a:t>Try</a:t>
            </a:r>
            <a:r>
              <a:rPr sz="900" spc="50" dirty="0">
                <a:solidFill>
                  <a:srgbClr val="EE4444"/>
                </a:solidFill>
                <a:latin typeface="Roboto"/>
                <a:cs typeface="Roboto"/>
              </a:rPr>
              <a:t> </a:t>
            </a:r>
            <a:r>
              <a:rPr sz="900" spc="-25" dirty="0">
                <a:solidFill>
                  <a:srgbClr val="EE4444"/>
                </a:solidFill>
                <a:latin typeface="Roboto"/>
                <a:cs typeface="Roboto"/>
              </a:rPr>
              <a:t>again.'</a:t>
            </a:r>
            <a:endParaRPr sz="900">
              <a:latin typeface="Roboto"/>
              <a:cs typeface="Roboto"/>
            </a:endParaRPr>
          </a:p>
          <a:p>
            <a:pPr marL="375920" marR="610235">
              <a:lnSpc>
                <a:spcPct val="326400"/>
              </a:lnSpc>
            </a:pP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Program</a:t>
            </a:r>
            <a:r>
              <a:rPr sz="900" spc="10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keeps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running</a:t>
            </a:r>
            <a:r>
              <a:rPr sz="900" spc="2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—</a:t>
            </a:r>
            <a:r>
              <a:rPr sz="900" spc="19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no</a:t>
            </a:r>
            <a:r>
              <a:rPr sz="900" spc="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crash </a:t>
            </a:r>
            <a:r>
              <a:rPr sz="900" spc="-10" dirty="0">
                <a:solidFill>
                  <a:srgbClr val="CBD4E1"/>
                </a:solidFill>
                <a:latin typeface="Roboto"/>
                <a:cs typeface="Roboto"/>
              </a:rPr>
              <a:t>sc.next</a:t>
            </a:r>
            <a:r>
              <a:rPr sz="900" spc="-14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Line()</a:t>
            </a:r>
            <a:r>
              <a:rPr sz="900" spc="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ﬂushes</a:t>
            </a:r>
            <a:r>
              <a:rPr sz="900" spc="10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dirty="0">
                <a:solidFill>
                  <a:srgbClr val="CBD4E1"/>
                </a:solidFill>
                <a:latin typeface="Roboto"/>
                <a:cs typeface="Roboto"/>
              </a:rPr>
              <a:t>bad</a:t>
            </a:r>
            <a:r>
              <a:rPr sz="900" spc="45" dirty="0">
                <a:solidFill>
                  <a:srgbClr val="CBD4E1"/>
                </a:solidFill>
                <a:latin typeface="Roboto"/>
                <a:cs typeface="Roboto"/>
              </a:rPr>
              <a:t> </a:t>
            </a:r>
            <a:r>
              <a:rPr sz="900" spc="-20" dirty="0">
                <a:solidFill>
                  <a:srgbClr val="CBD4E1"/>
                </a:solidFill>
                <a:latin typeface="Roboto"/>
                <a:cs typeface="Roboto"/>
              </a:rPr>
              <a:t>token</a:t>
            </a:r>
            <a:endParaRPr sz="9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589</Words>
  <Application>Microsoft Office PowerPoint</Application>
  <PresentationFormat>On-screen Show (16:9)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Roboto</vt:lpstr>
      <vt:lpstr>Symbol</vt:lpstr>
      <vt:lpstr>Times New Roman</vt:lpstr>
      <vt:lpstr>Office Theme</vt:lpstr>
      <vt:lpstr>Library Management System</vt:lpstr>
      <vt:lpstr>System Design</vt:lpstr>
      <vt:lpstr>OOP Concepts Used</vt:lpstr>
      <vt:lpstr>Technical Highlight</vt:lpstr>
      <vt:lpstr>Live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Arkadeep Biswas</dc:creator>
  <cp:lastModifiedBy>AGNIBHA SAHA</cp:lastModifiedBy>
  <cp:revision>1</cp:revision>
  <dcterms:created xsi:type="dcterms:W3CDTF">2026-03-29T18:45:40Z</dcterms:created>
  <dcterms:modified xsi:type="dcterms:W3CDTF">2026-03-29T18:51:33Z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LastSaved">
    <vt:filetime>2026-03-29T00:00:00Z</vt:filetime>
  </property>
</Properties>
</file>